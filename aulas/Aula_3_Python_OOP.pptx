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svg" ContentType="image/svg"/>
  <Override PartName="/ppt/media/image9.png" ContentType="image/png"/>
  <Override PartName="/ppt/media/image10.svg" ContentType="image/sv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F281B5-3980-4CA9-B9E8-9AC53DC7A0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6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7280" y="1188720"/>
            <a:ext cx="5756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ED67D13-70F6-43D5-AFDC-F999D26E25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7A8529-005E-4DCF-B419-2E66D97861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169520" y="6492240"/>
            <a:ext cx="386388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920916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74FAA1-AC37-477C-9086-80F57D6D7869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11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0948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12960" y="6120"/>
            <a:ext cx="673200" cy="10537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0" name=""/>
          <p:cNvSpPr/>
          <p:nvPr/>
        </p:nvSpPr>
        <p:spPr>
          <a:xfrm>
            <a:off x="11247120" y="6480"/>
            <a:ext cx="949680" cy="10537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1" name="" descr=""/>
          <p:cNvPicPr/>
          <p:nvPr/>
        </p:nvPicPr>
        <p:blipFill>
          <a:blip r:embed="rId2"/>
          <a:srcRect l="0" t="0" r="75485" b="0"/>
          <a:stretch/>
        </p:blipFill>
        <p:spPr>
          <a:xfrm>
            <a:off x="11592720" y="360000"/>
            <a:ext cx="466920" cy="53964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57556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27280" y="1188720"/>
            <a:ext cx="57556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4"/>
          </p:nvPr>
        </p:nvSpPr>
        <p:spPr>
          <a:xfrm>
            <a:off x="4169520" y="6492240"/>
            <a:ext cx="386388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5"/>
          </p:nvPr>
        </p:nvSpPr>
        <p:spPr>
          <a:xfrm>
            <a:off x="920916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6E9430-1849-4236-BED8-E434D55E96F2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dt" idx="6"/>
          </p:nvPr>
        </p:nvSpPr>
        <p:spPr>
          <a:xfrm>
            <a:off x="60948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3" name=""/>
          <p:cNvSpPr/>
          <p:nvPr/>
        </p:nvSpPr>
        <p:spPr>
          <a:xfrm>
            <a:off x="12960" y="6120"/>
            <a:ext cx="673200" cy="10537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>
            <a:off x="11247120" y="6480"/>
            <a:ext cx="949680" cy="10537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25" name="" descr=""/>
          <p:cNvPicPr/>
          <p:nvPr/>
        </p:nvPicPr>
        <p:blipFill>
          <a:blip r:embed="rId2"/>
          <a:srcRect l="0" t="0" r="75485" b="0"/>
          <a:stretch/>
        </p:blipFill>
        <p:spPr>
          <a:xfrm>
            <a:off x="11592720" y="360000"/>
            <a:ext cx="466920" cy="53964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7"/>
          </p:nvPr>
        </p:nvSpPr>
        <p:spPr>
          <a:xfrm>
            <a:off x="4169520" y="6492240"/>
            <a:ext cx="386388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8"/>
          </p:nvPr>
        </p:nvSpPr>
        <p:spPr>
          <a:xfrm>
            <a:off x="920916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CF6EC5-1587-4EBD-BC73-BD176C39DEA6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dt" idx="9"/>
          </p:nvPr>
        </p:nvSpPr>
        <p:spPr>
          <a:xfrm>
            <a:off x="60948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www.tutorialspoint.com/python/python_oops_concepts.htm" TargetMode="External"/><Relationship Id="rId2" Type="http://schemas.openxmlformats.org/officeDocument/2006/relationships/hyperlink" Target="https://www.w3schools.com/python/python_classes.asp" TargetMode="External"/><Relationship Id="rId3" Type="http://schemas.openxmlformats.org/officeDocument/2006/relationships/hyperlink" Target="https://refactoring.guru/design-patterns/catalog" TargetMode="External"/><Relationship Id="rId4" Type="http://schemas.openxmlformats.org/officeDocument/2006/relationships/hyperlink" Target="https://www.tutorialspoint.com/design_pattern/" TargetMode="External"/><Relationship Id="rId5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github.com/mauriciodev/progcart/blob/main/exemplos/aula_3_estruturado.py" TargetMode="External"/><Relationship Id="rId2" Type="http://schemas.openxmlformats.org/officeDocument/2006/relationships/hyperlink" Target="https://github.com/mauriciodev/progcart/blob/main/exemplos/aula_3_estruturado.py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github.com/mauriciodev/progcart/blob/main/aulas/aula_3_extras/aula_3_oop.py" TargetMode="External"/><Relationship Id="rId2" Type="http://schemas.openxmlformats.org/officeDocument/2006/relationships/image" Target="../media/image3.png"/><Relationship Id="rId3" Type="http://schemas.openxmlformats.org/officeDocument/2006/relationships/hyperlink" Target="https://www.w3schools.com/python/python_classes.asp" TargetMode="External"/><Relationship Id="rId4" Type="http://schemas.openxmlformats.org/officeDocument/2006/relationships/hyperlink" Target="https://github.com/mauriciodev/progcart/blob/main/aulas/aula_3_extras/aula_3_oop.py" TargetMode="External"/><Relationship Id="rId5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hyperlink" Target="https://www.tutorialspoint.com/python/python_oops_concepts.htm" TargetMode="External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hyperlink" Target="https://app.diagrams.net/#Uhttps%3A%2F%2Fraw.githubusercontent.com%2Fmauriciodev%2Fprogcart%2Frefs%2Fheads%2Fmain%2Faulas%2Faula_3_extras%2Fgeometrias.drawio%23%7B%22pageId%22%3A%22gFIXKU7e70iBACv-pCcN%22%7D" TargetMode="External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w3schools.com/python/python_classes.asp" TargetMode="External"/><Relationship Id="rId2" Type="http://schemas.openxmlformats.org/officeDocument/2006/relationships/hyperlink" Target="https://github.com/mauriciodev/progcart/blob/main/aulas/aula_3_extras/aula_3_oop_heranca.py" TargetMode="External"/><Relationship Id="rId3" Type="http://schemas.openxmlformats.org/officeDocument/2006/relationships/hyperlink" Target="https://github.com/mauriciodev/progcart/blob/main/aulas/aula_3_extras/aula_3_oop_heranca.py" TargetMode="External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www.ogc.org/publications/standard/sfa/" TargetMode="Externa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ww.geeksforgeeks.org/how-to-download-files-from-urls-with-python/" TargetMode="Externa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105920" y="2382480"/>
            <a:ext cx="10013760" cy="19299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pt-BR" sz="2800" spc="-1" strike="noStrike">
                <a:solidFill>
                  <a:srgbClr val="355e00"/>
                </a:solidFill>
                <a:latin typeface="Arial"/>
              </a:rPr>
              <a:t>Python orientado a objetos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983520" y="373320"/>
            <a:ext cx="10040400" cy="14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pc="-1" strike="noStrike">
                <a:solidFill>
                  <a:srgbClr val="355e00"/>
                </a:solidFill>
                <a:latin typeface="Arial"/>
              </a:rPr>
              <a:t>Programação aplicada à engenharia cartográfica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170360" y="4855680"/>
            <a:ext cx="999936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Prof. Dr. Maurício Carvalho Mathias de Paulo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Prof. Me. Raphael Luiz França Greco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pt-BR" sz="2000" spc="-1" strike="noStrike">
                <a:solidFill>
                  <a:srgbClr val="355e00"/>
                </a:solidFill>
                <a:latin typeface="Arial"/>
              </a:rPr>
              <a:t>Rio de Janeiro-RJ, 2025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BAE8A9-7AB9-4B0C-B919-9758641E234C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Introdução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  <a:ea typeface="SimSun"/>
              </a:rPr>
              <a:t>Documentos de Python Orientado a Objetos: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b="0" lang="pt-BR" sz="2200" spc="-1" strike="noStrike" u="sng">
                <a:solidFill>
                  <a:srgbClr val="0000ee"/>
                </a:solidFill>
                <a:uFillTx/>
                <a:latin typeface="Arial"/>
                <a:ea typeface="SimSun"/>
                <a:hlinkClick r:id="rId1"/>
              </a:rPr>
              <a:t>https://www.tutorialspoint.com/python/python_oops_concepts.htm</a:t>
            </a:r>
            <a:r>
              <a:rPr b="0" lang="pt-BR" sz="2200" spc="-1" strike="noStrike">
                <a:solidFill>
                  <a:srgbClr val="000000"/>
                </a:solidFill>
                <a:latin typeface="Arial"/>
                <a:ea typeface="SimSun"/>
              </a:rPr>
              <a:t> 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 u="sng">
                <a:solidFill>
                  <a:srgbClr val="0000ee"/>
                </a:solidFill>
                <a:uFillTx/>
                <a:latin typeface="Arial"/>
                <a:ea typeface="SimSun"/>
                <a:hlinkClick r:id="rId2"/>
              </a:rPr>
              <a:t>https://www.w3schools.com/python/python_classes.asp</a:t>
            </a:r>
            <a:r>
              <a:rPr b="0" lang="pt-BR" sz="2200" spc="-1" strike="noStrike">
                <a:solidFill>
                  <a:srgbClr val="000000"/>
                </a:solidFill>
                <a:latin typeface="Arial"/>
                <a:ea typeface="SimSun"/>
              </a:rPr>
              <a:t> 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  <a:ea typeface="SimSun"/>
              </a:rPr>
              <a:t>Exercícios complementares (muito importantes):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  <a:ea typeface="SimSun"/>
              </a:rPr>
              <a:t>Documentos de Padrões de Projeto (Design Patterns):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b="0" lang="pt-BR" sz="2000" spc="-1" strike="noStrike" u="sng">
                <a:solidFill>
                  <a:srgbClr val="0000ee"/>
                </a:solidFill>
                <a:uFillTx/>
                <a:latin typeface="Arial"/>
                <a:ea typeface="SimSun"/>
                <a:hlinkClick r:id="rId3"/>
              </a:rPr>
              <a:t>https://refactoring.guru/design-patterns/catalog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SimSun"/>
              </a:rPr>
              <a:t>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2000" spc="-1" strike="noStrike" u="sng">
                <a:solidFill>
                  <a:srgbClr val="0000ee"/>
                </a:solidFill>
                <a:uFillTx/>
                <a:latin typeface="Arial"/>
                <a:ea typeface="SimSun"/>
                <a:hlinkClick r:id="rId4"/>
              </a:rPr>
              <a:t>https://www.tutorialspoint.com/design_pattern/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SimSun"/>
              </a:rPr>
              <a:t>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F021039-02CB-4032-AC91-C594549F8FFA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Introdução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488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Problema exemplo: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Vamos representar dados geográficos utilizando três tipos de geometrias: pontos, linhas e polígonos.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Cada geometria deve guardar as coordenadas que a descrevem. 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Pontos tem 1 par de coordenadas.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Linhas e polígonos podem ter vários pares de coordenadas.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Nos polígonos o primeiro e o último ponto são iguais.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As distâncias entre as coordenadas de linhas e polígonos são representadas por um segmento de reta.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Todas geometrias vão executar as mesmas operações (funções). Porém, a implementação de cada função depende do tipo de geometria. Usaremos a função comprimento() como exemplo.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Como podemos implementar isso em Python?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9CD8401-D135-4243-9C5D-34401EC5EE04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Código estruturado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2002320" y="1260000"/>
            <a:ext cx="8617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https://github.com/mauriciodev/progcart/blob/main/exemplos/aula_3_estruturado.py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2880000" y="1734840"/>
            <a:ext cx="6839640" cy="4427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11B7D59-F0BA-40E2-9C22-CC6730844B35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Código orientado a objetos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2700000" y="1734840"/>
            <a:ext cx="6833520" cy="4423680"/>
          </a:xfrm>
          <a:prstGeom prst="rect">
            <a:avLst/>
          </a:prstGeom>
          <a:ln w="0">
            <a:noFill/>
          </a:ln>
        </p:spPr>
      </p:pic>
      <p:sp>
        <p:nvSpPr>
          <p:cNvPr id="45" name=""/>
          <p:cNvSpPr/>
          <p:nvPr/>
        </p:nvSpPr>
        <p:spPr>
          <a:xfrm>
            <a:off x="2700000" y="6300000"/>
            <a:ext cx="67590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Dúvidas: </a:t>
            </a:r>
            <a:r>
              <a:rPr b="0" lang="pt-BR" sz="1800" spc="-1" strike="noStrike" u="sng">
                <a:solidFill>
                  <a:srgbClr val="0000ee"/>
                </a:solidFill>
                <a:uFillTx/>
                <a:latin typeface="Arial"/>
                <a:hlinkClick r:id="rId3"/>
              </a:rPr>
              <a:t>https://www.w3schools.com/python/python_classes.asp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800000" y="1273320"/>
            <a:ext cx="8910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 u="sng">
                <a:solidFill>
                  <a:srgbClr val="0000ee"/>
                </a:solidFill>
                <a:uFillTx/>
                <a:latin typeface="Arial"/>
                <a:hlinkClick r:id="rId4"/>
              </a:rPr>
              <a:t>https://github.com/mauriciodev/progcart/blob/main/aulas/aula_3_extras/aula_3_oop.py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271440" y="4500000"/>
            <a:ext cx="2428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Um pouco fraco, não?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772C0FD-A3F5-44E8-A74B-2C035B7C3E7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Conceitos de OOP em Python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Classes x Objetos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3105360" y="1512360"/>
            <a:ext cx="5714280" cy="4247280"/>
          </a:xfrm>
          <a:prstGeom prst="rect">
            <a:avLst/>
          </a:prstGeom>
          <a:ln w="0">
            <a:noFill/>
          </a:ln>
        </p:spPr>
      </p:pic>
      <p:sp>
        <p:nvSpPr>
          <p:cNvPr id="51" name=""/>
          <p:cNvSpPr/>
          <p:nvPr/>
        </p:nvSpPr>
        <p:spPr>
          <a:xfrm>
            <a:off x="1905120" y="5801400"/>
            <a:ext cx="75798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Fonte: </a:t>
            </a:r>
            <a:r>
              <a:rPr b="0" lang="pt-BR" sz="1800" spc="-1" strike="noStrike" u="sng">
                <a:solidFill>
                  <a:srgbClr val="0000ee"/>
                </a:solidFill>
                <a:uFillTx/>
                <a:latin typeface="Arial"/>
                <a:hlinkClick r:id="rId2"/>
              </a:rPr>
              <a:t>https://www.tutorialspoint.com/python/python_oops_concepts.htm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0145BA7-6CCE-42F5-A0A4-1149C6E8BF7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Diagrama de classes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7556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Vamos representar dados geográficos utilizando três tipos de geometrias: </a:t>
            </a: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pontos, linhas e polígonos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Cada geometria deve guardar as </a:t>
            </a: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coordenadas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 que a descrevem. 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Pontos tem 1 par de coordenadas. 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Linhas e polígonos podem ter vários pares de coordenadas. 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Nos polígonos o primeiro e o último ponto são iguais. 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76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As distâncias entre as coordenadas de linhas e polígonos são representadas por um segmento de reta.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Todas geometrias vão executar as mesmas operações (funções). Porém, a implementação de cada função depende do tipo de geometria. Usaremos a função comprimento() como exemplo.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Como podemos implementar isso em Python?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480000" y="1647720"/>
            <a:ext cx="5257080" cy="1951920"/>
          </a:xfrm>
          <a:prstGeom prst="rect">
            <a:avLst/>
          </a:prstGeom>
          <a:ln w="0">
            <a:noFill/>
          </a:ln>
        </p:spPr>
      </p:pic>
      <p:sp>
        <p:nvSpPr>
          <p:cNvPr id="55" name=""/>
          <p:cNvSpPr/>
          <p:nvPr/>
        </p:nvSpPr>
        <p:spPr>
          <a:xfrm>
            <a:off x="7740000" y="3780000"/>
            <a:ext cx="323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 u="sng">
                <a:solidFill>
                  <a:srgbClr val="0000ee"/>
                </a:solidFill>
                <a:uFillTx/>
                <a:latin typeface="Arial"/>
                <a:hlinkClick r:id="rId3"/>
              </a:rPr>
              <a:t>Link para o github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824F756-596C-4064-8F2A-878007C19DE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Código orientado a objetos com herança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2637720" y="6296400"/>
            <a:ext cx="67590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Dúvidas: </a:t>
            </a:r>
            <a:r>
              <a:rPr b="0" lang="pt-BR" sz="18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https://www.w3schools.com/python/python_classes.asp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078200" y="1263960"/>
            <a:ext cx="9862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 u="sng">
                <a:solidFill>
                  <a:srgbClr val="0000ee"/>
                </a:solidFill>
                <a:uFillTx/>
                <a:latin typeface="Arial"/>
                <a:hlinkClick r:id="rId2"/>
              </a:rPr>
              <a:t>https://github.com/mauriciodev/progcart/blob/main/aulas/aula_3_extras/aula_3_oop_heranca.py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2777040" y="1715400"/>
            <a:ext cx="6518880" cy="45669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7E6558F-EDC5-45E6-BFD0-F3993C72D6B7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Simple features access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743560" y="1217880"/>
            <a:ext cx="6742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Espeficicação: </a:t>
            </a:r>
            <a:r>
              <a:rPr b="0" lang="pt-BR" sz="18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https://www.ogc.org/publications/standard/sfa/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1371960" y="1615320"/>
            <a:ext cx="9181440" cy="5237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C62AB00-0AC1-4FA0-9E5F-F38A4C95013C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Exercício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6598440" cy="505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Implementem uma classe que baixe dados de um servidor.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SimSun"/>
              </a:rPr>
              <a:t>Para criar um objeto “Downloader” devem ser passados o endereço de download e uma pasta de destino. Exemplo: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SimSun"/>
              </a:rPr>
              <a:t>O endereço de uma folha no geoftp do IBGE é: https://geoftp.ibge.gov.br/cartas_e_mapas/folhas_topograficas/vetoriais/escala_1000mil/shapefile/g04_na19.zip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SimSun"/>
              </a:rPr>
              <a:t>O server_url_format seria: f”https://geoftp.ibge.gov.br/cartas_e_mapas/folhas_topograficas/vetoriais/escala_1000mil/shapefile/{name}.zip”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SimSun"/>
              </a:rPr>
              <a:t>Dica: </a:t>
            </a:r>
            <a:r>
              <a:rPr b="0" lang="pt-BR" sz="2000" spc="-1" strike="noStrike" u="sng">
                <a:solidFill>
                  <a:srgbClr val="0000ee"/>
                </a:solidFill>
                <a:uFillTx/>
                <a:latin typeface="Arial"/>
                <a:ea typeface="SimSun"/>
                <a:hlinkClick r:id="rId1"/>
              </a:rPr>
              <a:t>https://www.geeksforgeeks.org/how-to-download-files-from-urls-with-python/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  <a:ea typeface="SimSun"/>
              </a:rPr>
              <a:t>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999840" y="2384280"/>
            <a:ext cx="5017680" cy="26377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804BF0D-454B-48FF-973A-12DBC4D3CA9F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Mais exercícios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Exercícios para o pessoal que quiser praticar orientação a objetos: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https://www.w3resource.com/python-exercises/oop/index.php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B440D0B-91FA-439D-AD79-6D625BE6275E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2015-04-30T10:55:49Z</dcterms:created>
  <dc:creator/>
  <dc:description/>
  <dc:language>pt-BR</dc:language>
  <cp:lastModifiedBy/>
  <dcterms:modified xsi:type="dcterms:W3CDTF">2025-12-22T09:40:00Z</dcterms:modified>
  <cp:revision>772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