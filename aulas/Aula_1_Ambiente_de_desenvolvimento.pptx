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9200" cy="105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182880" y="1188720"/>
            <a:ext cx="117954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927DB4C-622E-4DC4-BC9D-8CD959EA426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9200" cy="105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182880" y="1188720"/>
            <a:ext cx="117954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D1611BE-D10D-4ADA-BD9E-E9E6F214891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9200" cy="105336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182880" y="1188720"/>
            <a:ext cx="117954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1"/>
          </p:nvPr>
        </p:nvSpPr>
        <p:spPr>
          <a:xfrm>
            <a:off x="4169520" y="6492240"/>
            <a:ext cx="3863880" cy="22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2"/>
          </p:nvPr>
        </p:nvSpPr>
        <p:spPr>
          <a:xfrm>
            <a:off x="9209160" y="6492240"/>
            <a:ext cx="2840040" cy="22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F4F1D97-DAC7-48BA-A7A8-16AFB5A0D0BB}" type="slidenum"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dt" idx="3"/>
          </p:nvPr>
        </p:nvSpPr>
        <p:spPr>
          <a:xfrm>
            <a:off x="609480" y="6492240"/>
            <a:ext cx="2840040" cy="22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"/>
          <p:cNvSpPr/>
          <p:nvPr/>
        </p:nvSpPr>
        <p:spPr>
          <a:xfrm>
            <a:off x="0" y="1097280"/>
            <a:ext cx="12191760" cy="7200"/>
          </a:xfrm>
          <a:prstGeom prst="line">
            <a:avLst/>
          </a:prstGeom>
          <a:ln w="7200">
            <a:solidFill>
              <a:srgbClr val="5c85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3600" rIns="93600" tIns="-41400" bIns="-41400" anchor="ctr" anchorCtr="1">
            <a:noAutofit/>
          </a:bodyPr>
          <a:p>
            <a:endParaRPr b="0" lang="pt-BR" sz="2400" spc="-1" strike="noStrike">
              <a:solidFill>
                <a:srgbClr val="000000"/>
              </a:solidFill>
              <a:latin typeface="Times New Roman"/>
              <a:ea typeface="DejaVu Sans"/>
            </a:endParaRPr>
          </a:p>
        </p:txBody>
      </p:sp>
      <p:sp>
        <p:nvSpPr>
          <p:cNvPr id="8" name=""/>
          <p:cNvSpPr/>
          <p:nvPr/>
        </p:nvSpPr>
        <p:spPr>
          <a:xfrm>
            <a:off x="0" y="1136880"/>
            <a:ext cx="12191760" cy="360"/>
          </a:xfrm>
          <a:prstGeom prst="line">
            <a:avLst/>
          </a:prstGeom>
          <a:ln w="7200">
            <a:solidFill>
              <a:srgbClr val="5c85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3600" rIns="93600" tIns="-48600" bIns="-48600" anchor="ctr" anchorCtr="1">
            <a:noAutofit/>
          </a:bodyPr>
          <a:p>
            <a:endParaRPr b="0" lang="pt-BR" sz="2400" spc="-1" strike="noStrike">
              <a:solidFill>
                <a:srgbClr val="000000"/>
              </a:solidFill>
              <a:latin typeface="Times New Roman"/>
              <a:ea typeface="DejaVu Sans"/>
            </a:endParaRPr>
          </a:p>
        </p:txBody>
      </p:sp>
      <p:sp>
        <p:nvSpPr>
          <p:cNvPr id="9" name=""/>
          <p:cNvSpPr/>
          <p:nvPr/>
        </p:nvSpPr>
        <p:spPr>
          <a:xfrm>
            <a:off x="12960" y="6120"/>
            <a:ext cx="673200" cy="105372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>
              <a:lnSpc>
                <a:spcPct val="100000"/>
              </a:lnSpc>
            </a:pPr>
            <a:endParaRPr b="0" lang="pt-BR" sz="2400" spc="-1" strike="noStrike">
              <a:solidFill>
                <a:srgbClr val="000000"/>
              </a:solidFill>
              <a:latin typeface="Times New Roman"/>
              <a:ea typeface="DejaVu Sans"/>
            </a:endParaRPr>
          </a:p>
        </p:txBody>
      </p:sp>
      <p:sp>
        <p:nvSpPr>
          <p:cNvPr id="10" name=""/>
          <p:cNvSpPr/>
          <p:nvPr/>
        </p:nvSpPr>
        <p:spPr>
          <a:xfrm>
            <a:off x="11247120" y="6480"/>
            <a:ext cx="949680" cy="105372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>
              <a:lnSpc>
                <a:spcPct val="100000"/>
              </a:lnSpc>
            </a:pPr>
            <a:endParaRPr b="0" lang="pt-BR" sz="2400" spc="-1" strike="noStrike">
              <a:solidFill>
                <a:srgbClr val="000000"/>
              </a:solidFill>
              <a:latin typeface="Times New Roman"/>
              <a:ea typeface="DejaVu Sans"/>
            </a:endParaRPr>
          </a:p>
        </p:txBody>
      </p:sp>
      <p:pic>
        <p:nvPicPr>
          <p:cNvPr id="11" name="" descr=""/>
          <p:cNvPicPr/>
          <p:nvPr/>
        </p:nvPicPr>
        <p:blipFill>
          <a:blip r:embed="rId2"/>
          <a:srcRect l="0" t="0" r="75485" b="0"/>
          <a:stretch/>
        </p:blipFill>
        <p:spPr>
          <a:xfrm>
            <a:off x="11592720" y="360000"/>
            <a:ext cx="466920" cy="539640"/>
          </a:xfrm>
          <a:prstGeom prst="rect">
            <a:avLst/>
          </a:prstGeom>
          <a:ln w="0">
            <a:noFill/>
          </a:ln>
        </p:spPr>
      </p:pic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9200" cy="105336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182880" y="1188720"/>
            <a:ext cx="117954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ftr" idx="4"/>
          </p:nvPr>
        </p:nvSpPr>
        <p:spPr>
          <a:xfrm>
            <a:off x="4169520" y="6492240"/>
            <a:ext cx="3863880" cy="22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sldNum" idx="5"/>
          </p:nvPr>
        </p:nvSpPr>
        <p:spPr>
          <a:xfrm>
            <a:off x="9209160" y="6492240"/>
            <a:ext cx="2840040" cy="22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A0363C0-14FC-4091-A6C7-3CA51F12506B}" type="slidenum"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dt" idx="6"/>
          </p:nvPr>
        </p:nvSpPr>
        <p:spPr>
          <a:xfrm>
            <a:off x="609480" y="6492240"/>
            <a:ext cx="2840040" cy="22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https://stackoverflow.com/" TargetMode="External"/><Relationship Id="rId2" Type="http://schemas.openxmlformats.org/officeDocument/2006/relationships/hyperlink" Target="https://chatgpt.com/" TargetMode="External"/><Relationship Id="rId3" Type="http://schemas.openxmlformats.org/officeDocument/2006/relationships/hyperlink" Target="https://github.com/features/copilot" TargetMode="External"/><Relationship Id="rId4" Type="http://schemas.openxmlformats.org/officeDocument/2006/relationships/hyperlink" Target="https://ollama.com/" TargetMode="External"/><Relationship Id="rId5" Type="http://schemas.openxmlformats.org/officeDocument/2006/relationships/hyperlink" Target="https://github.com/ggerganov/llama.cpp" TargetMode="External"/><Relationship Id="rId6" Type="http://schemas.openxmlformats.org/officeDocument/2006/relationships/hyperlink" Target="https://gemini.google.com/" TargetMode="External"/><Relationship Id="rId7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hyperlink" Target="https://vscodium.com/" TargetMode="Externa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hyperlink" Target="https://www.drawio.com/" TargetMode="External"/><Relationship Id="rId2" Type="http://schemas.openxmlformats.org/officeDocument/2006/relationships/hyperlink" Target="https://www.drawio.com/doc/getting-started-basic-flow-chart" TargetMode="External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hyperlink" Target="https://www.drawio.com/" TargetMode="External"/><Relationship Id="rId2" Type="http://schemas.openxmlformats.org/officeDocument/2006/relationships/hyperlink" Target="https://www.drawio.com/blog/uml-class-diagrams" TargetMode="External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hyperlink" Target="https://ronjeffries.com/xprog/what-is-extreme-programming/" TargetMode="External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1105920" y="2382480"/>
            <a:ext cx="10013760" cy="192996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50000"/>
              </a:lnSpc>
              <a:buNone/>
              <a:tabLst>
                <a:tab algn="l" pos="0"/>
              </a:tabLst>
            </a:pPr>
            <a:r>
              <a:rPr b="1" lang="pt-BR" sz="2800" spc="-1" strike="noStrike">
                <a:solidFill>
                  <a:srgbClr val="355e00"/>
                </a:solidFill>
                <a:latin typeface="Arial"/>
              </a:rPr>
              <a:t>Introdução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"/>
          <p:cNvSpPr/>
          <p:nvPr/>
        </p:nvSpPr>
        <p:spPr>
          <a:xfrm>
            <a:off x="983520" y="373320"/>
            <a:ext cx="10040400" cy="14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pPr marL="216000" indent="-216000" algn="ctr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600" spc="-1" strike="noStrike">
                <a:solidFill>
                  <a:srgbClr val="355e00"/>
                </a:solidFill>
                <a:latin typeface="Arial"/>
              </a:rPr>
              <a:t>Programação aplicada à Engenharia Cartográfica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"/>
          <p:cNvSpPr/>
          <p:nvPr/>
        </p:nvSpPr>
        <p:spPr>
          <a:xfrm>
            <a:off x="1170360" y="4855680"/>
            <a:ext cx="9999360" cy="178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Prof. Dr. Maurício Carvalho Mathias de Paulo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Prof. Me. Raphael Luiz França Greco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r">
              <a:lnSpc>
                <a:spcPct val="100000"/>
              </a:lnSpc>
            </a:pPr>
            <a:r>
              <a:rPr b="0" lang="pt-BR" sz="2000" spc="-1" strike="noStrike">
                <a:solidFill>
                  <a:srgbClr val="355e00"/>
                </a:solidFill>
                <a:latin typeface="Arial"/>
              </a:rPr>
              <a:t>Rio de Janeiro-RJ, 2025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D082946-666C-4489-B51A-5087BD8C427C}" type="slidenum">
              <a:t>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9200" cy="105336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3630" spc="-1" strike="noStrike">
                <a:solidFill>
                  <a:srgbClr val="355e00"/>
                </a:solidFill>
                <a:latin typeface="Arial"/>
              </a:rPr>
              <a:t>Copiloto de desenvolvimento</a:t>
            </a:r>
            <a:endParaRPr b="0" lang="pt-BR" sz="3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182880" y="1188720"/>
            <a:ext cx="11795400" cy="5513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StackOverflow: </a:t>
            </a:r>
            <a:r>
              <a:rPr b="0" lang="pt-BR" sz="2400" spc="-1" strike="noStrike" u="sng">
                <a:solidFill>
                  <a:srgbClr val="0000ee"/>
                </a:solidFill>
                <a:uFillTx/>
                <a:latin typeface="Arial"/>
                <a:hlinkClick r:id="rId1"/>
              </a:rPr>
              <a:t>https://stackoverflow.com/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1049"/>
              </a:spcAft>
              <a:buNone/>
              <a:tabLst>
                <a:tab algn="l" pos="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ChatGPT </a:t>
            </a:r>
            <a:r>
              <a:rPr b="0" lang="pt-BR" sz="2400" spc="-1" strike="noStrike" u="sng">
                <a:solidFill>
                  <a:srgbClr val="0000ee"/>
                </a:solidFill>
                <a:uFillTx/>
                <a:latin typeface="Arial"/>
                <a:hlinkClick r:id="rId2"/>
              </a:rPr>
              <a:t>https://chatgpt.com/</a:t>
            </a: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 (gratuito)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Github Copilot </a:t>
            </a:r>
            <a:r>
              <a:rPr b="0" lang="pt-BR" sz="2400" spc="-1" strike="noStrike" u="sng">
                <a:solidFill>
                  <a:srgbClr val="0000ee"/>
                </a:solidFill>
                <a:uFillTx/>
                <a:latin typeface="Arial"/>
                <a:hlinkClick r:id="rId3"/>
              </a:rPr>
              <a:t>https://github.com/features/copilot</a:t>
            </a: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 (pago)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</a:rPr>
              <a:t>https://www.meta.ai/ (gratúito + pesos e código abertos)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Instalação local: </a:t>
            </a:r>
            <a:r>
              <a:rPr b="0" lang="pt-BR" sz="2200" spc="-1" strike="noStrike" u="sng">
                <a:solidFill>
                  <a:srgbClr val="0000ee"/>
                </a:solidFill>
                <a:uFillTx/>
                <a:latin typeface="Arial"/>
                <a:hlinkClick r:id="rId4"/>
              </a:rPr>
              <a:t>https://ollama.com/</a:t>
            </a: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 ou </a:t>
            </a:r>
            <a:r>
              <a:rPr b="0" lang="pt-BR" sz="2200" spc="-1" strike="noStrike" u="sng">
                <a:solidFill>
                  <a:srgbClr val="0000ee"/>
                </a:solidFill>
                <a:uFillTx/>
                <a:latin typeface="Arial"/>
                <a:hlinkClick r:id="rId5"/>
              </a:rPr>
              <a:t>https://github.com/ggerganov/llama.cpp</a:t>
            </a: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Gemini </a:t>
            </a:r>
            <a:r>
              <a:rPr b="0" lang="pt-BR" sz="2400" spc="-1" strike="noStrike" u="sng">
                <a:solidFill>
                  <a:srgbClr val="0000ee"/>
                </a:solidFill>
                <a:uFillTx/>
                <a:latin typeface="Arial"/>
                <a:hlinkClick r:id="rId6"/>
              </a:rPr>
              <a:t>https://gemini.google.com</a:t>
            </a: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 (gratuito)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Entre outros, alguns especialistas. 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1049"/>
              </a:spcAft>
              <a:buNone/>
              <a:tabLst>
                <a:tab algn="l" pos="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0" algn="ctr">
              <a:lnSpc>
                <a:spcPct val="100000"/>
              </a:lnSpc>
              <a:spcAft>
                <a:spcPts val="1049"/>
              </a:spcAft>
              <a:buNone/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</a:rPr>
              <a:t>Não confie cegamente no trabalho de outra pessoa. 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0" algn="ctr">
              <a:lnSpc>
                <a:spcPct val="100000"/>
              </a:lnSpc>
              <a:spcAft>
                <a:spcPts val="1049"/>
              </a:spcAft>
              <a:buNone/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</a:rPr>
              <a:t>Muito menos de uma IA.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52CB187-D7CD-4D35-A80B-C31D71E2DAF8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9200" cy="105336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3630" spc="-1" strike="noStrike">
                <a:solidFill>
                  <a:srgbClr val="355e00"/>
                </a:solidFill>
                <a:latin typeface="Arial"/>
              </a:rPr>
              <a:t>Instalação do Python (com ambientes virtuais)</a:t>
            </a:r>
            <a:endParaRPr b="0" lang="pt-BR" sz="3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182880" y="1188720"/>
            <a:ext cx="11697120" cy="547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Ambiente virtuais em Python: 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Isolamento de dependências entre projetos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Evita conflitos de versões de bibliotecas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Permite usar diferentes versões do Python no mesmo sistema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Facilita a reprodução do ambiente em outros computadores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Reduz riscos de quebrar aplicações existentes ao instalar novos pacotes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Gerenciadores de ambientes: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Miniforge: Ambiente conda de código aberto. 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Por que usar ambientes controlados? Para evitar conflito de versões de bibliotecas.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https://github.com/conda-forge/miniforge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E972AF4-6B10-452A-87E1-EFF241B58F71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9200" cy="105336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3630" spc="-1" strike="noStrike">
                <a:solidFill>
                  <a:srgbClr val="355e00"/>
                </a:solidFill>
                <a:latin typeface="Arial"/>
              </a:rPr>
              <a:t>Interface de desenvolvimento</a:t>
            </a:r>
            <a:endParaRPr b="0" lang="pt-BR" sz="3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182880" y="1188720"/>
            <a:ext cx="6116760" cy="547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Integrated Development Environment (IDE)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VSCodium (</a:t>
            </a:r>
            <a:r>
              <a:rPr b="0" lang="pt-BR" sz="2200" spc="-1" strike="noStrike" u="sng">
                <a:solidFill>
                  <a:srgbClr val="0000ee"/>
                </a:solidFill>
                <a:uFillTx/>
                <a:latin typeface="Arial"/>
                <a:hlinkClick r:id="rId1"/>
              </a:rPr>
              <a:t>https://vscodium.com/</a:t>
            </a: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) 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Versão código aberto do VSCode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Usaremos para: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Escrever código python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Depuração (Debug)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Controle de versões de código (Git)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Cadernos jupyter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Desenhar diagramas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Aft>
                <a:spcPts val="763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Fluxograma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Aft>
                <a:spcPts val="763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UML: Classes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Aft>
                <a:spcPts val="1026"/>
              </a:spcAft>
              <a:buNone/>
              <a:tabLst>
                <a:tab algn="l" pos="0"/>
              </a:tabLst>
            </a:pP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" name="" descr=""/>
          <p:cNvPicPr/>
          <p:nvPr/>
        </p:nvPicPr>
        <p:blipFill>
          <a:blip r:embed="rId2"/>
          <a:stretch/>
        </p:blipFill>
        <p:spPr>
          <a:xfrm>
            <a:off x="6660000" y="1383840"/>
            <a:ext cx="4736520" cy="509580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AF45BB0-AA4D-4E58-92A8-78895443E726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9200" cy="105336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3630" spc="-1" strike="noStrike">
                <a:solidFill>
                  <a:srgbClr val="355e00"/>
                </a:solidFill>
                <a:latin typeface="Arial"/>
              </a:rPr>
              <a:t>Interface de desenvolvimento</a:t>
            </a:r>
            <a:endParaRPr b="0" lang="pt-BR" sz="3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182880" y="1188720"/>
            <a:ext cx="117954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Caso ainda não tenha instalado, essa é a hora de instalar o VSCodium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Windows: winget VSCodium.VSCodium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Linux: Baixar .deb em https://github.com/VSCodium/vscodium/releases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D0C4512-7334-46FD-817B-DECC04AFAEF0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9200" cy="105336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3630" spc="-1" strike="noStrike">
                <a:solidFill>
                  <a:srgbClr val="355e00"/>
                </a:solidFill>
                <a:latin typeface="Arial"/>
              </a:rPr>
              <a:t>Fluxograma</a:t>
            </a:r>
            <a:endParaRPr b="0" lang="pt-BR" sz="3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182880" y="1188720"/>
            <a:ext cx="4856760" cy="529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Pasta: projeto/docs/fluxograma.drawio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Abrir com: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 u="sng">
                <a:solidFill>
                  <a:srgbClr val="0000ee"/>
                </a:solidFill>
                <a:uFillTx/>
                <a:latin typeface="Arial"/>
                <a:hlinkClick r:id="rId1"/>
              </a:rPr>
              <a:t>https://www.drawio.com/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VSCodium Draw.io Integration (Author: Hediet)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Tutorial de edição: </a:t>
            </a:r>
            <a:r>
              <a:rPr b="0" lang="pt-BR" sz="2400" spc="-1" strike="noStrike" u="sng">
                <a:solidFill>
                  <a:srgbClr val="0000ee"/>
                </a:solidFill>
                <a:uFillTx/>
                <a:latin typeface="Arial"/>
                <a:hlinkClick r:id="rId2"/>
              </a:rPr>
              <a:t>https://www.drawio.com/doc/getting-started-basic-flow-chart</a:t>
            </a: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3" name="" descr=""/>
          <p:cNvPicPr/>
          <p:nvPr/>
        </p:nvPicPr>
        <p:blipFill>
          <a:blip r:embed="rId3"/>
          <a:stretch/>
        </p:blipFill>
        <p:spPr>
          <a:xfrm>
            <a:off x="4860000" y="1440000"/>
            <a:ext cx="7023240" cy="399204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5793886-D8BC-49E3-BF0D-D51C7905B42D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9200" cy="105336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3630" spc="-1" strike="noStrike">
                <a:solidFill>
                  <a:srgbClr val="355e00"/>
                </a:solidFill>
                <a:latin typeface="Arial"/>
              </a:rPr>
              <a:t>Diagramas de classes (UML)</a:t>
            </a:r>
            <a:endParaRPr b="0" lang="pt-BR" sz="3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182880" y="1188720"/>
            <a:ext cx="4676760" cy="529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Pasta: projeto/docs/diagrama_de_classes.drawio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Abrir com: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 u="sng">
                <a:solidFill>
                  <a:srgbClr val="0000ee"/>
                </a:solidFill>
                <a:uFillTx/>
                <a:latin typeface="Arial"/>
                <a:hlinkClick r:id="rId1"/>
              </a:rPr>
              <a:t>https://www.drawio.com/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VSCodium Draw.io Integration (Author: Hediet)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Tutorial de edição: </a:t>
            </a:r>
            <a:r>
              <a:rPr b="0" lang="pt-BR" sz="2400" spc="-1" strike="noStrike" u="sng">
                <a:solidFill>
                  <a:srgbClr val="0000ee"/>
                </a:solidFill>
                <a:uFillTx/>
                <a:latin typeface="Arial"/>
                <a:hlinkClick r:id="rId2"/>
              </a:rPr>
              <a:t>https://www.drawio.com/blog/uml-class-diagrams</a:t>
            </a: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6" name="" descr=""/>
          <p:cNvPicPr/>
          <p:nvPr/>
        </p:nvPicPr>
        <p:blipFill>
          <a:blip r:embed="rId3"/>
          <a:srcRect l="1147" t="0" r="1847" b="0"/>
          <a:stretch/>
        </p:blipFill>
        <p:spPr>
          <a:xfrm>
            <a:off x="5040000" y="1602000"/>
            <a:ext cx="7019280" cy="415764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AE16A1C-8A48-4111-BAAD-288D205F8D63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9200" cy="105336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3630" spc="-1" strike="noStrike">
                <a:solidFill>
                  <a:srgbClr val="355e00"/>
                </a:solidFill>
                <a:latin typeface="Arial"/>
              </a:rPr>
              <a:t>Ciclos de desenvolvimento</a:t>
            </a:r>
            <a:endParaRPr b="0" lang="pt-BR" sz="3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182880" y="1188720"/>
            <a:ext cx="117954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Desenvolvimento ágil em ciclos de 2 semanas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 u="sng">
                <a:solidFill>
                  <a:srgbClr val="0000ee"/>
                </a:solidFill>
                <a:uFillTx/>
                <a:latin typeface="Arial"/>
                <a:hlinkClick r:id="rId1"/>
              </a:rPr>
              <a:t>https://ronjeffries.com/xprog/what-is-extreme-programming/</a:t>
            </a: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Programação em pares (Xtreme programming - XP)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9" name="" descr=""/>
          <p:cNvPicPr/>
          <p:nvPr/>
        </p:nvPicPr>
        <p:blipFill>
          <a:blip r:embed="rId2"/>
          <a:stretch/>
        </p:blipFill>
        <p:spPr>
          <a:xfrm>
            <a:off x="2340000" y="2520000"/>
            <a:ext cx="8174880" cy="4337640"/>
          </a:xfrm>
          <a:prstGeom prst="rect">
            <a:avLst/>
          </a:prstGeom>
          <a:ln w="0">
            <a:noFill/>
          </a:ln>
        </p:spPr>
      </p:pic>
      <p:sp>
        <p:nvSpPr>
          <p:cNvPr id="40" name=""/>
          <p:cNvSpPr/>
          <p:nvPr/>
        </p:nvSpPr>
        <p:spPr>
          <a:xfrm>
            <a:off x="3960000" y="6493320"/>
            <a:ext cx="53996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Fonte: https://newline.tech/extreme-programming/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13DC4F2-A65B-4000-AB1F-64AA239FFDD3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9200" cy="105336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3630" spc="-1" strike="noStrike">
                <a:solidFill>
                  <a:srgbClr val="355e00"/>
                </a:solidFill>
                <a:latin typeface="Arial"/>
              </a:rPr>
              <a:t>Projetos</a:t>
            </a:r>
            <a:endParaRPr b="0" lang="pt-BR" sz="3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182880" y="1188720"/>
            <a:ext cx="11795400" cy="49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Plugin Hello Map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Carregar dados matriciais e vetoriais no QGIS (GDAL opcional)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Abrir coordenadas da rede de monitoramento SIRGAS e converter para um arquivo vetorial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Baixar e manipular dados tabulados com Pandas e escrever com Geopandas.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Processing Plugin de extrair cotas de um Modelo Digital de Superfícies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Manipular dados matriciais e vetoriais no QGIS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Operações topológicas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Processing Plugin com model builder para resolver um problema de geoprocessamento.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FastAPI/Taipy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Criar interface web e API web para os projetos 2, 3 e 4.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(Opcional): RasterIO+Sklearn (XGBoost)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C9B4AEA-E3B8-4A80-AAE1-27AE4D777F72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9200" cy="105336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3630" spc="-1" strike="noStrike">
                <a:solidFill>
                  <a:srgbClr val="355e00"/>
                </a:solidFill>
                <a:latin typeface="Arial"/>
              </a:rPr>
              <a:t>Estrutura dos projetos</a:t>
            </a:r>
            <a:endParaRPr b="0" lang="pt-BR" sz="3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/>
          </p:nvPr>
        </p:nvSpPr>
        <p:spPr>
          <a:xfrm>
            <a:off x="182880" y="1188720"/>
            <a:ext cx="117954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/docs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Diagrama de classes: Representa visualmente as principais classes que serão implementadas.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Fluxogramas: Representa uma visão geral de um procedimento importante.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/src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Exemplos de código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/tests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Testes unitários: Verificam partes do código utilizando entradas e saídas controladas.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BE1C8C6-4225-4910-8BEA-57DCADD4CAEB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9200" cy="105336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3630" spc="-1" strike="noStrike">
                <a:solidFill>
                  <a:srgbClr val="355e00"/>
                </a:solidFill>
                <a:latin typeface="Arial"/>
              </a:rPr>
              <a:t>Avaliação</a:t>
            </a:r>
            <a:endParaRPr b="0" lang="pt-BR" sz="3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182880" y="1188720"/>
            <a:ext cx="117954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6 – Implementação (entrega no classroom)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Em pares.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3 – Apresentação oral do código (no computador)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Alternado entre os dos dois membros do par.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1 – Inovação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Ponto para ideias interessantes que o par tiver. 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66E789C-6D1B-4808-B835-12324D0C0355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9200" cy="105336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3630" spc="-1" strike="noStrike">
                <a:solidFill>
                  <a:srgbClr val="355e00"/>
                </a:solidFill>
                <a:latin typeface="Arial"/>
              </a:rPr>
              <a:t>Cronograma de aulas</a:t>
            </a:r>
            <a:endParaRPr b="0" lang="pt-BR" sz="36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8" name="" descr=""/>
          <p:cNvPicPr/>
          <p:nvPr/>
        </p:nvPicPr>
        <p:blipFill>
          <a:blip r:embed="rId1"/>
          <a:srcRect l="67170" t="18339" r="66579" b="144324"/>
          <a:stretch/>
        </p:blipFill>
        <p:spPr>
          <a:xfrm>
            <a:off x="3799080" y="1260000"/>
            <a:ext cx="4516560" cy="557964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FFA28D1-653E-45F9-AC76-9644E2EE9E50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9200" cy="105336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3630" spc="-1" strike="noStrike">
                <a:solidFill>
                  <a:srgbClr val="355e00"/>
                </a:solidFill>
                <a:latin typeface="Arial"/>
              </a:rPr>
              <a:t>Bibliotecas úteis</a:t>
            </a:r>
            <a:endParaRPr b="0" lang="pt-BR" sz="3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182880" y="1188720"/>
            <a:ext cx="11795400" cy="412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Matemática: Numpy, Scipy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Interface gráfica (GUI): PyQt5, Tkinter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Análises em SIG: PyQGIS, OGR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Dados raster geográficos: GDAL, Fiona, Rasterio,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Dataframes (tabelas): Pandas, Geopandas, Polars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Gráficos científicos: Matplotlib, Plotly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Backend Web: FastAPI, Flask, Django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Backend com interface: Taipy, Streamlit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Aprendizado de máquina: Sklearn, Keras, Torch, Tensorflow, Jax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2D801EF-5AA6-461B-B2AB-8890C7B544FE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9200" cy="105336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3630" spc="-1" strike="noStrike">
                <a:solidFill>
                  <a:srgbClr val="355e00"/>
                </a:solidFill>
                <a:latin typeface="Arial"/>
              </a:rPr>
              <a:t>Prática</a:t>
            </a:r>
            <a:endParaRPr b="0" lang="pt-BR" sz="3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182880" y="1188720"/>
            <a:ext cx="11795400" cy="586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Fluxograma no VSCodium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Debug no VSCodium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Inicializando ambiente: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conda create -n hello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Ativar o ambiente criado: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</a:rPr>
              <a:t>conda activate hello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Instalando pacotes: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  <a:ea typeface="SimSun"/>
              </a:rPr>
              <a:t>conda install scipy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  <a:ea typeface="SimSun"/>
              </a:rPr>
              <a:t>No VSCodium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  <a:ea typeface="SimSun"/>
              </a:rPr>
              <a:t>Ctrl+Shift+P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102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200" spc="-1" strike="noStrike">
                <a:solidFill>
                  <a:srgbClr val="000000"/>
                </a:solidFill>
                <a:latin typeface="Arial"/>
                <a:ea typeface="SimSun"/>
              </a:rPr>
              <a:t>Select Python Interpreter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  <a:ea typeface="SimSun"/>
              </a:rPr>
              <a:t>Parar debugar: F5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1049"/>
              </a:spcAft>
              <a:buNone/>
              <a:tabLst>
                <a:tab algn="l" pos="0"/>
              </a:tabLst>
            </a:pP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464C0A6-EA49-4563-B4A6-068900365B4F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40080" y="5760"/>
            <a:ext cx="10699200" cy="1053360"/>
          </a:xfrm>
          <a:prstGeom prst="rect">
            <a:avLst/>
          </a:prstGeom>
          <a:solidFill>
            <a:srgbClr val="99cc99"/>
          </a:solidFill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3630" spc="-1" strike="noStrike">
                <a:solidFill>
                  <a:srgbClr val="355e00"/>
                </a:solidFill>
                <a:latin typeface="Arial"/>
              </a:rPr>
              <a:t>Instalação PyQGIS</a:t>
            </a:r>
            <a:endParaRPr b="0" lang="pt-BR" sz="3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182880" y="1188720"/>
            <a:ext cx="117954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pip install pb_tool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04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Qt Designer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C5C9C4E-1497-48E7-96C0-037B59ABB260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5600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2015-04-30T10:55:49Z</dcterms:created>
  <dc:creator/>
  <dc:description/>
  <dc:language>pt-BR</dc:language>
  <cp:lastModifiedBy/>
  <dcterms:modified xsi:type="dcterms:W3CDTF">2025-12-22T10:18:19Z</dcterms:modified>
  <cp:revision>790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