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92F9F5-6D2A-4C71-BDD6-EBF984B45E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96BDF46-6145-4588-B505-0FA6DD3AF1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169520" y="6492240"/>
            <a:ext cx="3863520" cy="22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9209160" y="6492240"/>
            <a:ext cx="2839680" cy="22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EA55D0-0F5C-4C38-AA4D-85879BD24DF8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09480" y="6492240"/>
            <a:ext cx="2839680" cy="22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2960" y="6120"/>
            <a:ext cx="67284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11247120" y="6480"/>
            <a:ext cx="94932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1" name="" descr=""/>
          <p:cNvPicPr/>
          <p:nvPr/>
        </p:nvPicPr>
        <p:blipFill>
          <a:blip r:embed="rId2"/>
          <a:srcRect l="0" t="0" r="75472" b="0"/>
          <a:stretch/>
        </p:blipFill>
        <p:spPr>
          <a:xfrm>
            <a:off x="11592720" y="360000"/>
            <a:ext cx="466560" cy="53928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4"/>
          </p:nvPr>
        </p:nvSpPr>
        <p:spPr>
          <a:xfrm>
            <a:off x="4169520" y="6492240"/>
            <a:ext cx="3863520" cy="22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9209160" y="6492240"/>
            <a:ext cx="2839680" cy="22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161005-4A56-4C41-87A8-CD6C42916E9B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6"/>
          </p:nvPr>
        </p:nvSpPr>
        <p:spPr>
          <a:xfrm>
            <a:off x="609480" y="6492240"/>
            <a:ext cx="2839680" cy="22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stackoverflow.com/" TargetMode="External"/><Relationship Id="rId2" Type="http://schemas.openxmlformats.org/officeDocument/2006/relationships/hyperlink" Target="https://chatgpt.com/" TargetMode="External"/><Relationship Id="rId3" Type="http://schemas.openxmlformats.org/officeDocument/2006/relationships/hyperlink" Target="https://github.com/features/copilot" TargetMode="External"/><Relationship Id="rId4" Type="http://schemas.openxmlformats.org/officeDocument/2006/relationships/hyperlink" Target="https://ollama.com/" TargetMode="External"/><Relationship Id="rId5" Type="http://schemas.openxmlformats.org/officeDocument/2006/relationships/hyperlink" Target="https://github.com/ggerganov/llama.cpp" TargetMode="External"/><Relationship Id="rId6" Type="http://schemas.openxmlformats.org/officeDocument/2006/relationships/hyperlink" Target="https://gemini.google.com/" TargetMode="External"/><Relationship Id="rId7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docs.astral.sh/uv/" TargetMode="External"/><Relationship Id="rId2" Type="http://schemas.openxmlformats.org/officeDocument/2006/relationships/hyperlink" Target="https://github.com/conda-forge/miniforge" TargetMode="External"/><Relationship Id="rId3" Type="http://schemas.openxmlformats.org/officeDocument/2006/relationships/hyperlink" Target="https://pixi.prefix.dev/latest/" TargetMode="External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vscodium.com/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developers.google.com/gemini-code-assist/ui/welcome/transform-code" TargetMode="External"/><Relationship Id="rId2" Type="http://schemas.openxmlformats.org/officeDocument/2006/relationships/hyperlink" Target="https://developers.google.com/gemini-code-assist/ui/welcome/custom-commands" TargetMode="External"/><Relationship Id="rId3" Type="http://schemas.openxmlformats.org/officeDocument/2006/relationships/hyperlink" Target="https://developers.google.com/gemini-code-assist/ui/welcome/generate-code" TargetMode="External"/><Relationship Id="rId4" Type="http://schemas.openxmlformats.org/officeDocument/2006/relationships/hyperlink" Target="https://developers.google.com/gemini-code-assist/ui/welcome/chat" TargetMode="External"/><Relationship Id="rId5" Type="http://schemas.openxmlformats.org/officeDocument/2006/relationships/hyperlink" Target="https://developers.google.com/gemini-code-assist/ui/welcome/files-folders" TargetMode="External"/><Relationship Id="rId6" Type="http://schemas.openxmlformats.org/officeDocument/2006/relationships/hyperlink" Target="https://developers.google.com/gemini-code-assist/ui/welcome/tools" TargetMode="External"/><Relationship Id="rId7" Type="http://schemas.openxmlformats.org/officeDocument/2006/relationships/hyperlink" Target="https://developers.google.com/gemini-code-assist/ui/welcome/rules" TargetMode="External"/><Relationship Id="rId8" Type="http://schemas.openxmlformats.org/officeDocument/2006/relationships/hyperlink" Target="https://developers.google.com/gemini-code-assist/ui/release-notes" TargetMode="External"/><Relationship Id="rId9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drawio.com/" TargetMode="External"/><Relationship Id="rId2" Type="http://schemas.openxmlformats.org/officeDocument/2006/relationships/hyperlink" Target="https://www.drawio.com/doc/getting-started-basic-flow-chart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www.drawio.com/" TargetMode="External"/><Relationship Id="rId2" Type="http://schemas.openxmlformats.org/officeDocument/2006/relationships/hyperlink" Target="https://www.drawio.com/blog/uml-class-diagrams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ronjeffries.com/xprog/what-is-extreme-programming/" TargetMode="Externa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05920" y="2382480"/>
            <a:ext cx="10013400" cy="19296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rgbClr val="355e00"/>
                </a:solidFill>
                <a:latin typeface="Arial"/>
              </a:rPr>
              <a:t>Introdução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983520" y="373320"/>
            <a:ext cx="10040040" cy="14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355e00"/>
                </a:solidFill>
                <a:latin typeface="Arial"/>
                <a:ea typeface="DejaVu Sans"/>
              </a:rPr>
              <a:t>Programação aplicada à Engenharia Cartográfica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170360" y="4855680"/>
            <a:ext cx="9999000" cy="17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Prof. Dr. Maurício Carvalho Mathias de Paulo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Prof. Me. Raphael Luiz França Greco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pt-BR" sz="2000" spc="-1" strike="noStrike">
                <a:solidFill>
                  <a:srgbClr val="355e00"/>
                </a:solidFill>
                <a:latin typeface="Arial"/>
                <a:ea typeface="DejaVu Sans"/>
              </a:rPr>
              <a:t>Rio de Janeiro-RJ, 2026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16B74C-0AFB-454B-B83F-53FB70BA2198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Copiloto de desenvolvimento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551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StackOverflow: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https://stackoverflow.com/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ChatGPT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https://chatgpt.com/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(gratuito)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Github Copilot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3"/>
              </a:rPr>
              <a:t>https://github.com/features/copilot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(pago)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</a:rPr>
              <a:t>https://www.meta.ai/ (gratúito + pesos e código abertos)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Instalação local: </a:t>
            </a: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hlinkClick r:id="rId4"/>
              </a:rPr>
              <a:t>https://ollama.com/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 ou </a:t>
            </a: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hlinkClick r:id="rId5"/>
              </a:rPr>
              <a:t>https://github.com/ggerganov/llama.cpp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Gemini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6"/>
              </a:rPr>
              <a:t>https://gemini.google.com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(gratuito)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Entre outros, alguns especialistas.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</a:rPr>
              <a:t>Não confie cegamente no trabalho de outra pessoa.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</a:rPr>
              <a:t>Muito menos de uma IA.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11A41A-AE12-49C5-98E6-F1FE84115AE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Instalação do Python (com ambientes virtuais)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696760" cy="547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Ambiente virtuais em Python: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Isolamento de dependências entre projetos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Evita conflitos de versões de bibliotecas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Permite usar diferentes versões do Python no mesmo sistema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Facilita a reprodução do ambiente em outros computadores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Reduz riscos de quebrar aplicações existentes ao instalar novos pacotes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Principal objetivo: instalar GDAL e QGIS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704181-6AB6-4EAB-B0B3-8C252B62484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Instalação do Python (com ambientes virtuais)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696760" cy="547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Gerenciadores de ambientes:</a:t>
            </a:r>
            <a:br>
              <a:rPr sz="2400"/>
            </a:b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</a:pPr>
            <a:br>
              <a:rPr sz="2400"/>
            </a:br>
            <a:br>
              <a:rPr sz="2400"/>
            </a:b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GDAL e QGIS: Pixi (recomendado) ou miniforge (conda)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Deep learning: uv para pytorch, tensorflow, etc.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" name=""/>
          <p:cNvGraphicFramePr/>
          <p:nvPr/>
        </p:nvGraphicFramePr>
        <p:xfrm>
          <a:off x="200160" y="1547280"/>
          <a:ext cx="11856960" cy="3852720"/>
        </p:xfrm>
        <a:graphic>
          <a:graphicData uri="http://schemas.openxmlformats.org/drawingml/2006/table">
            <a:tbl>
              <a:tblPr/>
              <a:tblGrid>
                <a:gridCol w="1303200"/>
                <a:gridCol w="1965960"/>
                <a:gridCol w="3128400"/>
                <a:gridCol w="2525400"/>
                <a:gridCol w="2934360"/>
              </a:tblGrid>
              <a:tr h="670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Ferramenta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Descrição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Gerenciamento de Ambiente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Observações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Link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0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pip + venv (nativo)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Gerencia pacotes Python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Ambiente virtual criado dentro da pasta do projeto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Solução padrão do Python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640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uv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Similar ao pip + venv, porém mais rápido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Pode organizar ambientes e projetos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Foco em desempenho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hlinkClick r:id="rId1"/>
                        </a:rPr>
                        <a:t>https://docs.astral.sh/uv/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640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Conda (Miniforge)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Gerencia pacotes Python e não Python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Ambientes organizados na estrutura do Conda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Muito usado em ciência de dados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hlinkClick r:id="rId2"/>
                        </a:rPr>
                        <a:t>https://github.com/conda-forge/miniforge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Pixi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Similar ao Conda, porém mais rápido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Ambientes no estilo Conda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Considerado substituto do Conda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hlinkClick r:id="rId3"/>
                        </a:rPr>
                        <a:t>https://pixi.prefix.dev/latest/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5563BB-B7E6-4DBF-B113-1670CA147CF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Interface de desenvolvimento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6116400" cy="547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Integrated Development Environment (IDE)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VSCodium (</a:t>
            </a: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https://vscodium.com/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)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Versão código aberto do VSCode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Usaremos para: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Escrever código python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Depuração (Debug)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Controle de versões de código (Git)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Cadernos jupyter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Desenhar diagramas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Fluxograma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UML: Classes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1026"/>
              </a:spcAft>
              <a:buNone/>
              <a:tabLst>
                <a:tab algn="l" pos="0"/>
              </a:tabLst>
            </a:pP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>
            <a:off x="6660000" y="1383840"/>
            <a:ext cx="4736160" cy="50954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6036B7-5BF0-443E-97C0-1F2D09FB069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Interface de desenvolvimento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Caso ainda não tenha instalado, essa é a hora de instalar o VSCodium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Windows: winget VSCodium.VSCodium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Linux: Baixar .deb em https://github.com/VSCodium/vscodium/releases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2188CD-AE88-4D07-98EE-57B6F40C322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Interface de desenvolvimento (copilotos)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Assistente de código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Get started with Gemini Code Assist's many features: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Press Control+I to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1"/>
              </a:rPr>
              <a:t>transform your code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 as well as execute your own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2"/>
              </a:rPr>
              <a:t>custom commands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Select comments as prompts in the editor and press Control+Enter to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3"/>
              </a:rPr>
              <a:t>generate code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Click the Gemini Logo () in the Activity Bar to use Gemini Code Assist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4"/>
              </a:rPr>
              <a:t>chat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 to ask questions about and improve your code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Add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5"/>
              </a:rPr>
              <a:t>files, folders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 and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6"/>
              </a:rPr>
              <a:t>tools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 to your chat context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Add custom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7"/>
              </a:rPr>
              <a:t>rules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 to enhance chat responses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Review the latest Code Assist feature 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  <a:hlinkClick r:id="rId8"/>
              </a:rPr>
              <a:t>releases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C1DE38-4677-460D-8F65-E43F53CCF37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Fluxograma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4856400" cy="529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Pasta: projeto/docs/fluxograma.drawio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Abrir com: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https://www.drawio.com/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VSCodium Draw.io Integration (Author: Hediet)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Tutorial de edição: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https://www.drawio.com/doc/getting-started-basic-flow-chart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4860000" y="1440000"/>
            <a:ext cx="7022880" cy="3991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88EE65-B248-42C2-8A00-4A61D2F8DDC0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Diagramas de classes (UML)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4676400" cy="529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Pasta: projeto/docs/diagrama_de_classes.drawio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Abrir com: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https://www.drawio.com/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VSCodium Draw.io Integration (Author: Hediet)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Tutorial de edição: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https://www.drawio.com/blog/uml-class-diagrams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3"/>
          <a:srcRect l="1147" t="0" r="1847" b="0"/>
          <a:stretch/>
        </p:blipFill>
        <p:spPr>
          <a:xfrm>
            <a:off x="5040000" y="1602000"/>
            <a:ext cx="7018920" cy="4157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6B1274-9FA5-400D-B113-230A2D215E81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Ciclos de desenvolvimento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Desenvolvimento ágil em ciclos de 2 semanas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https://ronjeffries.com/xprog/what-is-extreme-programming/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Programação em pares (Xtreme programming - XP)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2340000" y="2520000"/>
            <a:ext cx="8174520" cy="433728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/>
          <p:nvPr/>
        </p:nvSpPr>
        <p:spPr>
          <a:xfrm>
            <a:off x="3960000" y="6493320"/>
            <a:ext cx="5399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Fonte: https://newline.tech/extreme-programming/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F1378F-C895-4396-857D-EB89E116D21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Projetos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49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Plugin Hello Map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Carregar dados matriciais e vetoriais no QGIS (GDAL opcional)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Abrir coordenadas da rede de monitoramento SIRGAS e converter para um arquivo vetorial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Baixar e manipular dados tabulados com Pandas e escrever com Geopandas.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Processing Plugin de extrair cotas de um Modelo Digital de Superfícies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Manipular dados matriciais e vetoriais no QGIS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Operações topológicas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Processing Plugin com model builder para resolver um problema de geoprocessamento.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FastAPI/Taipy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Criar interface web e API web para os projetos 2, 3 e 4.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(Opcional): RasterIO+Sklearn (XGBoost)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E4539B-F3A1-4C41-BD11-D379102C6FC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Estrutura dos projetos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/docs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Diagrama de classes: Representa visualmente as principais classes que serão implementadas.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Fluxogramas: Representa uma visão geral de um procedimento importante.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/src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Exemplos de código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/tests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Testes unitários: Verificam partes do código utilizando entradas e saídas controladas.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7A36F5-56E7-4861-A50E-3EF50004BD7E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Avaliação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 – Implementação (entrega no classroom)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Em pares.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 – Apresentação oral do código (no computador)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Alternado entre os dos dois membros do par.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1 – Inovação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Ponto para ideias interessantes que o par tiver.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13B032-E6A8-4078-A614-6719A3F1664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Cronograma de aulas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rcRect l="67166" t="18335" r="66575" b="144304"/>
          <a:stretch/>
        </p:blipFill>
        <p:spPr>
          <a:xfrm>
            <a:off x="3799080" y="1260000"/>
            <a:ext cx="4516200" cy="55792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5926A0-AE12-48B2-9096-D2B523FBDD72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Bibliotecas úteis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412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Matemática: Numpy, Scipy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Interface gráfica (GUI): PyQt5, Tkinter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Análises em SIG: PyQGIS, OGR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Dados raster geográficos: GDAL, Fiona, Rasterio,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Dataframes (tabelas): Pandas, Geopandas, Polars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Gráficos científicos: Matplotlib, Plotly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Backend Web: FastAPI, Flask, Django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Backend com interface: Taipy, Streamlit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Aprendizado de máquina: Sklearn, Keras, Torch, Tensorflow, Jax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554351-A8E9-42AF-900D-3808742979F1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Prática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58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Criar a pasta do projeto e acessar a pasta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mkdir projeto0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cd projecto0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Inicializar o ambiente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pixi init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Ativar o ambiente criado: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Instalando pacotes: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pixi add planetary-computer pydantic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  <a:ea typeface="SimSun"/>
              </a:rPr>
              <a:t>No VSCodium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Ctrl+Shift+P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Select Python Interpreter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  <a:ea typeface="SimSun"/>
              </a:rPr>
              <a:t>Parar debugar: F5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7C07D5-D3EA-4A7D-B2EC-D80CB98CAA3A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Prática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58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Fluxograma no VSCodium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Debug no VSCodium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Inicializando ambiente: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conda create -n hello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Ativar o ambiente criado: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conda activate hello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Instalando pacotes: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conda install scipy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  <a:ea typeface="SimSun"/>
              </a:rPr>
              <a:t>No VSCodium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Ctrl+Shift+P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Select Python Interpreter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  <a:ea typeface="SimSun"/>
              </a:rPr>
              <a:t>Parar debugar: F5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20CCA0-C8F2-4A71-96A6-75820933ABFB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8840" cy="105300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Instalação PyQGIS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pip install pb_tool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Qt Designer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600679-E8A4-44F9-B974-0D308F8B9A7E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2015-04-30T10:55:49Z</dcterms:created>
  <dc:creator/>
  <dc:description/>
  <dc:language>pt-BR</dc:language>
  <cp:lastModifiedBy/>
  <dcterms:modified xsi:type="dcterms:W3CDTF">2026-01-22T11:48:09Z</dcterms:modified>
  <cp:revision>794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