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7F52AB-5442-400F-902E-0DF41FE233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9D59900-F0CA-4FD5-BECB-9B0AAD9CB6F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94E66B9-4C21-4680-9AE8-06907D21DF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4169520" y="6492240"/>
            <a:ext cx="3863160" cy="2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9209160" y="6492240"/>
            <a:ext cx="2839320" cy="2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7529E0-59EF-4E08-A02C-21B65CD9F552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09480" y="6492240"/>
            <a:ext cx="2839320" cy="2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1097280"/>
            <a:ext cx="12191760" cy="7200"/>
          </a:xfrm>
          <a:prstGeom prst="line">
            <a:avLst/>
          </a:prstGeom>
          <a:ln w="7200">
            <a:solidFill>
              <a:srgbClr val="5c8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0" rIns="93600" tIns="-41400" bIns="-41400" anchor="ctr" anchorCtr="1">
            <a:noAutofit/>
          </a:bodyPr>
          <a:p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sp>
        <p:nvSpPr>
          <p:cNvPr id="8" name=""/>
          <p:cNvSpPr/>
          <p:nvPr/>
        </p:nvSpPr>
        <p:spPr>
          <a:xfrm>
            <a:off x="0" y="1136880"/>
            <a:ext cx="12191760" cy="360"/>
          </a:xfrm>
          <a:prstGeom prst="line">
            <a:avLst/>
          </a:prstGeom>
          <a:ln w="7200">
            <a:solidFill>
              <a:srgbClr val="5c8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0" rIns="93600" tIns="-48600" bIns="-48600" anchor="ctr" anchorCtr="1">
            <a:noAutofit/>
          </a:bodyPr>
          <a:p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sp>
        <p:nvSpPr>
          <p:cNvPr id="9" name=""/>
          <p:cNvSpPr/>
          <p:nvPr/>
        </p:nvSpPr>
        <p:spPr>
          <a:xfrm>
            <a:off x="12960" y="6120"/>
            <a:ext cx="672480" cy="105300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sp>
        <p:nvSpPr>
          <p:cNvPr id="10" name=""/>
          <p:cNvSpPr/>
          <p:nvPr/>
        </p:nvSpPr>
        <p:spPr>
          <a:xfrm>
            <a:off x="11247120" y="6480"/>
            <a:ext cx="948960" cy="105300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pic>
        <p:nvPicPr>
          <p:cNvPr id="11" name="" descr=""/>
          <p:cNvPicPr/>
          <p:nvPr/>
        </p:nvPicPr>
        <p:blipFill>
          <a:blip r:embed="rId2"/>
          <a:srcRect l="0" t="0" r="75459" b="0"/>
          <a:stretch/>
        </p:blipFill>
        <p:spPr>
          <a:xfrm>
            <a:off x="11592720" y="360000"/>
            <a:ext cx="466200" cy="538920"/>
          </a:xfrm>
          <a:prstGeom prst="rect">
            <a:avLst/>
          </a:prstGeom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4"/>
          </p:nvPr>
        </p:nvSpPr>
        <p:spPr>
          <a:xfrm>
            <a:off x="4169520" y="6492240"/>
            <a:ext cx="3863160" cy="2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5"/>
          </p:nvPr>
        </p:nvSpPr>
        <p:spPr>
          <a:xfrm>
            <a:off x="9209160" y="6492240"/>
            <a:ext cx="2839320" cy="2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043544-C753-4CE3-AF9B-78B910C527E3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6"/>
          </p:nvPr>
        </p:nvSpPr>
        <p:spPr>
          <a:xfrm>
            <a:off x="609480" y="6492240"/>
            <a:ext cx="2839320" cy="2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0" y="1097280"/>
            <a:ext cx="12191760" cy="7200"/>
          </a:xfrm>
          <a:prstGeom prst="line">
            <a:avLst/>
          </a:prstGeom>
          <a:ln w="7200">
            <a:solidFill>
              <a:srgbClr val="5c8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0" rIns="93600" tIns="-41400" bIns="-41400" anchor="ctr" anchorCtr="1">
            <a:noAutofit/>
          </a:bodyPr>
          <a:p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sp>
        <p:nvSpPr>
          <p:cNvPr id="20" name=""/>
          <p:cNvSpPr/>
          <p:nvPr/>
        </p:nvSpPr>
        <p:spPr>
          <a:xfrm>
            <a:off x="0" y="1136880"/>
            <a:ext cx="12191760" cy="360"/>
          </a:xfrm>
          <a:prstGeom prst="line">
            <a:avLst/>
          </a:prstGeom>
          <a:ln w="7200">
            <a:solidFill>
              <a:srgbClr val="5c8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0" rIns="93600" tIns="-48600" bIns="-48600" anchor="ctr" anchorCtr="1">
            <a:noAutofit/>
          </a:bodyPr>
          <a:p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sp>
        <p:nvSpPr>
          <p:cNvPr id="21" name=""/>
          <p:cNvSpPr/>
          <p:nvPr/>
        </p:nvSpPr>
        <p:spPr>
          <a:xfrm>
            <a:off x="12960" y="6120"/>
            <a:ext cx="672480" cy="105300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sp>
        <p:nvSpPr>
          <p:cNvPr id="22" name=""/>
          <p:cNvSpPr/>
          <p:nvPr/>
        </p:nvSpPr>
        <p:spPr>
          <a:xfrm>
            <a:off x="11247120" y="6480"/>
            <a:ext cx="948960" cy="105300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pic>
        <p:nvPicPr>
          <p:cNvPr id="23" name="" descr=""/>
          <p:cNvPicPr/>
          <p:nvPr/>
        </p:nvPicPr>
        <p:blipFill>
          <a:blip r:embed="rId2"/>
          <a:srcRect l="0" t="0" r="75459" b="0"/>
          <a:stretch/>
        </p:blipFill>
        <p:spPr>
          <a:xfrm>
            <a:off x="11592720" y="360000"/>
            <a:ext cx="466200" cy="538920"/>
          </a:xfrm>
          <a:prstGeom prst="rect">
            <a:avLst/>
          </a:prstGeom>
          <a:ln w="0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7"/>
          </p:nvPr>
        </p:nvSpPr>
        <p:spPr>
          <a:xfrm>
            <a:off x="4169520" y="6492240"/>
            <a:ext cx="3863160" cy="2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sldNum" idx="8"/>
          </p:nvPr>
        </p:nvSpPr>
        <p:spPr>
          <a:xfrm>
            <a:off x="9209160" y="6492240"/>
            <a:ext cx="2839320" cy="2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2F4170-1CF5-489B-AB64-6B601C97955F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dt" idx="9"/>
          </p:nvPr>
        </p:nvSpPr>
        <p:spPr>
          <a:xfrm>
            <a:off x="609480" y="6492240"/>
            <a:ext cx="2839320" cy="2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stackoverflow.com/" TargetMode="External"/><Relationship Id="rId2" Type="http://schemas.openxmlformats.org/officeDocument/2006/relationships/hyperlink" Target="https://chatgpt.com/" TargetMode="External"/><Relationship Id="rId3" Type="http://schemas.openxmlformats.org/officeDocument/2006/relationships/hyperlink" Target="https://github.com/features/copilot" TargetMode="External"/><Relationship Id="rId4" Type="http://schemas.openxmlformats.org/officeDocument/2006/relationships/hyperlink" Target="https://ollama.com/" TargetMode="External"/><Relationship Id="rId5" Type="http://schemas.openxmlformats.org/officeDocument/2006/relationships/hyperlink" Target="https://github.com/ggerganov/llama.cpp" TargetMode="External"/><Relationship Id="rId6" Type="http://schemas.openxmlformats.org/officeDocument/2006/relationships/hyperlink" Target="https://gemini.google.com/" TargetMode="External"/><Relationship Id="rId7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docs.astral.sh/uv/" TargetMode="External"/><Relationship Id="rId2" Type="http://schemas.openxmlformats.org/officeDocument/2006/relationships/hyperlink" Target="https://github.com/conda-forge/miniforge" TargetMode="External"/><Relationship Id="rId3" Type="http://schemas.openxmlformats.org/officeDocument/2006/relationships/hyperlink" Target="https://pixi.prefix.dev/latest/" TargetMode="External"/><Relationship Id="rId4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vscodium.com/" TargetMode="Externa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www.drawio.com/" TargetMode="External"/><Relationship Id="rId2" Type="http://schemas.openxmlformats.org/officeDocument/2006/relationships/hyperlink" Target="https://www.drawio.com/doc/getting-started-basic-flow-chart" TargetMode="External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www.drawio.com/" TargetMode="External"/><Relationship Id="rId2" Type="http://schemas.openxmlformats.org/officeDocument/2006/relationships/hyperlink" Target="https://www.drawio.com/blog/uml-class-diagrams" TargetMode="External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ronjeffries.com/xprog/what-is-extreme-programming/" TargetMode="Externa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105920" y="2382480"/>
            <a:ext cx="10013040" cy="19292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1" lang="pt-BR" sz="2800" spc="-1" strike="noStrike">
                <a:solidFill>
                  <a:srgbClr val="355e00"/>
                </a:solidFill>
                <a:latin typeface="Arial"/>
              </a:rPr>
              <a:t>Introdução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983520" y="373320"/>
            <a:ext cx="10039680" cy="14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pc="-1" strike="noStrike">
                <a:solidFill>
                  <a:srgbClr val="355e00"/>
                </a:solidFill>
                <a:latin typeface="Arial"/>
                <a:ea typeface="DejaVu Sans"/>
              </a:rPr>
              <a:t>Programação aplicada à Engenharia Cartográfica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1170360" y="4855680"/>
            <a:ext cx="9998640" cy="17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  <a:ea typeface="DejaVu Sans"/>
              </a:rPr>
              <a:t>Prof. Dr. Maurício Carvalho Mathias de Paulo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  <a:ea typeface="DejaVu Sans"/>
              </a:rPr>
              <a:t>Prof. Me. Raphael Luiz França Greco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b="0" lang="pt-BR" sz="2000" spc="-1" strike="noStrike">
                <a:solidFill>
                  <a:srgbClr val="355e00"/>
                </a:solidFill>
                <a:latin typeface="Arial"/>
                <a:ea typeface="DejaVu Sans"/>
              </a:rPr>
              <a:t>Rio de Janeiro-RJ, 2026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F91171-6515-4730-8AC6-293805458E3B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Copiloto de desenvolvimento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551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StackOverflow: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1"/>
              </a:rPr>
              <a:t>https://stackoverflow.com/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ChatGPT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2"/>
              </a:rPr>
              <a:t>https://chatgpt.com/</a:t>
            </a: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(gratuito)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Github Copilot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3"/>
              </a:rPr>
              <a:t>https://github.com/features/copilot</a:t>
            </a: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(gratuito)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</a:rPr>
              <a:t>https://www.meta.ai/ (gratúito + pesos e código abertos)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Instalação local: </a:t>
            </a: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4"/>
              </a:rPr>
              <a:t>https://ollama.com/</a:t>
            </a: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 ou </a:t>
            </a: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5"/>
              </a:rPr>
              <a:t>https://github.com/ggerganov/llama.cpp</a:t>
            </a: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Gemini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6"/>
              </a:rPr>
              <a:t>https://gemini.google.com</a:t>
            </a: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(gratuito)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Entre outros, alguns especialistas.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 algn="ctr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</a:rPr>
              <a:t>Não confie cegamente no trabalho de outra pessoa.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 algn="ctr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</a:rPr>
              <a:t>Muito menos de uma IA.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F802460-1163-4243-8F80-CFF23F184DF4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Instalação do Python (com ambientes virtuais)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696400" cy="547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Ambiente virtuais em Python: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Isolamento de dependências entre projetos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Evita conflitos de versões de bibliotecas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Permite usar diferentes versões do Python no mesmo sistema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Facilita a reprodução do ambiente em outros computadores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Reduz riscos de quebrar aplicações existentes ao instalar novos pacotes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Principal objetivo: instalar GDAL e QGIS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A00BCA-DCC0-4670-8283-B2BA97836A58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Instalação do Python (com ambientes virtuais)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696400" cy="547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Gerenciadores de ambientes:</a:t>
            </a:r>
            <a:br>
              <a:rPr sz="2400"/>
            </a:b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br>
              <a:rPr sz="2400"/>
            </a:br>
            <a:br>
              <a:rPr sz="2400"/>
            </a:b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GDAL e QGIS: Pixi (recomendado) ou miniforge (conda)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Deep learning: uv para pytorch, tensorflow, etc.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0" name=""/>
          <p:cNvGraphicFramePr/>
          <p:nvPr/>
        </p:nvGraphicFramePr>
        <p:xfrm>
          <a:off x="200160" y="1547280"/>
          <a:ext cx="11856960" cy="3872520"/>
        </p:xfrm>
        <a:graphic>
          <a:graphicData uri="http://schemas.openxmlformats.org/drawingml/2006/table">
            <a:tbl>
              <a:tblPr/>
              <a:tblGrid>
                <a:gridCol w="1303200"/>
                <a:gridCol w="1965960"/>
                <a:gridCol w="3128400"/>
                <a:gridCol w="2525400"/>
                <a:gridCol w="2934360"/>
              </a:tblGrid>
              <a:tr h="67032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Ferramenta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Descrição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Gerenciamento de Ambiente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Observações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Link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7032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pip + venv (nativo)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Gerencia pacotes Python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Ambiente virtual criado dentro da pasta do projeto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Solução padrão do Python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640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uv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Similar ao pip + venv, porém mais rápido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Pode organizar ambientes e projetos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Foco em desempenho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 u="sng">
                          <a:solidFill>
                            <a:srgbClr val="0000ee"/>
                          </a:solidFill>
                          <a:uFillTx/>
                          <a:latin typeface="Arial"/>
                          <a:hlinkClick r:id="rId1"/>
                        </a:rPr>
                        <a:t>https://docs.astral.sh/uv/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640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Conda (Miniforge)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Gerencia pacotes Python e não Python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Ambientes organizados na estrutura do Conda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Muito usado em ciência de dados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 u="sng">
                          <a:solidFill>
                            <a:srgbClr val="0000ee"/>
                          </a:solidFill>
                          <a:uFillTx/>
                          <a:latin typeface="Arial"/>
                          <a:hlinkClick r:id="rId2"/>
                        </a:rPr>
                        <a:t>https://github.com/conda-forge/miniforge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Pixi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Similar ao Conda, porém mais rápido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Ambientes no estilo Conda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Considerado substituto do Conda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t-BR" sz="1800" spc="-1" strike="noStrike" u="sng">
                          <a:solidFill>
                            <a:srgbClr val="0000ee"/>
                          </a:solidFill>
                          <a:uFillTx/>
                          <a:latin typeface="Arial"/>
                          <a:hlinkClick r:id="rId3"/>
                        </a:rPr>
                        <a:t>https://pixi.prefix.dev/latest/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60AF24-5D62-4499-8262-D5BB645D65AB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Interface de desenvolvimento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6116040" cy="547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Integrated Development Environment (IDE)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VSCodium (</a:t>
            </a: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1"/>
              </a:rPr>
              <a:t>https://vscodium.com/</a:t>
            </a: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) 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Versão código aberto do VSCode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Usaremos para: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Escrever código python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Depuração (Debug)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Controle de versões de código (Git)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Cadernos jupyter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Desenhar diagramas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76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Fluxograma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76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UML: Classes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1026"/>
              </a:spcAft>
              <a:buNone/>
              <a:tabLst>
                <a:tab algn="l" pos="0"/>
              </a:tabLst>
            </a:pP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" name="" descr=""/>
          <p:cNvPicPr/>
          <p:nvPr/>
        </p:nvPicPr>
        <p:blipFill>
          <a:blip r:embed="rId2"/>
          <a:stretch/>
        </p:blipFill>
        <p:spPr>
          <a:xfrm>
            <a:off x="6660000" y="1383840"/>
            <a:ext cx="4735800" cy="50950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43F485A-DECA-478F-AD87-2D2AF3257171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Interface de desenvolvimento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Caso ainda não tenha instalado, essa é a hora de instalar o VSCodium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Windows: winget VSCodium.VSCodium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Linux: Baixar .deb em https://github.com/VSCodium/vscodium/releases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CE2EEDA-A9AB-4B60-942D-8948CF51DC6F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Interface de desenvolvimento (copilotos)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Assistente de código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Continue.dev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FEBF75-649B-4564-9101-09CDA3EC9010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Interface de desenvolvimento (copilotos)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Assistente de código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Continue.dev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B41E614-E549-48DB-B971-0E1603240EC6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Fluxograma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4856040" cy="529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Pasta: projeto/docs/fluxograma.drawio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Abrir com: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1"/>
              </a:rPr>
              <a:t>https://www.drawio.com/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VSCodium Draw.io Integration (Author: Hediet)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Tutorial de edição: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2"/>
              </a:rPr>
              <a:t>https://www.drawio.com/doc/getting-started-basic-flow-chart</a:t>
            </a: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" name="" descr=""/>
          <p:cNvPicPr/>
          <p:nvPr/>
        </p:nvPicPr>
        <p:blipFill>
          <a:blip r:embed="rId3"/>
          <a:stretch/>
        </p:blipFill>
        <p:spPr>
          <a:xfrm>
            <a:off x="4860000" y="1440000"/>
            <a:ext cx="7022520" cy="39913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A9C90F-08B0-4317-9F2D-B9C8707339F2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Diagramas de classes (UML)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4676040" cy="529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Pasta: projeto/docs/diagrama_de_classes.drawio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Abrir com: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1"/>
              </a:rPr>
              <a:t>https://www.drawio.com/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VSCodium Draw.io Integration (Author: Hediet)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Tutorial de edição: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2"/>
              </a:rPr>
              <a:t>https://www.drawio.com/blog/uml-class-diagrams</a:t>
            </a: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" descr=""/>
          <p:cNvPicPr/>
          <p:nvPr/>
        </p:nvPicPr>
        <p:blipFill>
          <a:blip r:embed="rId3"/>
          <a:srcRect l="1147" t="0" r="1847" b="0"/>
          <a:stretch/>
        </p:blipFill>
        <p:spPr>
          <a:xfrm>
            <a:off x="5040000" y="1602000"/>
            <a:ext cx="7018560" cy="41569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6E8B7FE-70C0-4F86-8BA2-F5E1392B1184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Ciclos de desenvolvimento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Desenvolvimento ágil em ciclos de 2 semanas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1"/>
              </a:rPr>
              <a:t>https://ronjeffries.com/xprog/what-is-extreme-programming/</a:t>
            </a: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Programação em pares (Xtreme programming - XP)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" descr=""/>
          <p:cNvPicPr/>
          <p:nvPr/>
        </p:nvPicPr>
        <p:blipFill>
          <a:blip r:embed="rId2"/>
          <a:stretch/>
        </p:blipFill>
        <p:spPr>
          <a:xfrm>
            <a:off x="2340000" y="2520000"/>
            <a:ext cx="8174160" cy="4336920"/>
          </a:xfrm>
          <a:prstGeom prst="rect">
            <a:avLst/>
          </a:prstGeom>
          <a:ln w="0">
            <a:noFill/>
          </a:ln>
        </p:spPr>
      </p:pic>
      <p:sp>
        <p:nvSpPr>
          <p:cNvPr id="59" name=""/>
          <p:cNvSpPr/>
          <p:nvPr/>
        </p:nvSpPr>
        <p:spPr>
          <a:xfrm>
            <a:off x="3960000" y="6493320"/>
            <a:ext cx="53989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Fonte: https://newline.tech/extreme-programming/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BBFBB0E-F296-47FE-8306-C50D89EE1E66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Projetos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497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Plugin Hello Map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Carregar dados matriciais e vetoriais no QGIS (GDAL opcional)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Abrir coordenadas da rede de monitoramento SIRGAS e converter para um arquivo vetorial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Baixar e manipular dados tabulados com Pandas e escrever com Geopandas.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Processing Plugin de extrair cotas de um Modelo Digital de Superfícies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Manipular dados matriciais e vetoriais no QGIS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Operações topológicas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Processing Plugin com model builder para resolver um problema de geoprocessamento.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(Opcional): RasterIO+Sklearn (XGBoost)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CB791B1-C36B-4365-B665-28E004BE965F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Estrutura dos projetos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/docs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Diagrama de classes: Representa visualmente as principais classes que serão implementadas.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Fluxogramas: Representa uma visão geral de um procedimento importante.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/src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Exemplos de código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/tests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Testes unitários: Verificam partes do código utilizando entradas e saídas controladas.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471B669-0B54-4077-A75D-EDB4EC1EF52F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Avaliação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6 – Implementação (entrega no classroom)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Em pares.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 – Apresentação oral do código (no computador)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Alternado entre os dos dois membros do par.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1 – Inovação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Ponto para ideias interessantes que o par tiver. 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BC15700-A7D0-4B00-9CC8-FC099B3A38B0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Cronograma de aulas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" name="" descr=""/>
          <p:cNvPicPr/>
          <p:nvPr/>
        </p:nvPicPr>
        <p:blipFill>
          <a:blip r:embed="rId1"/>
          <a:srcRect l="67161" t="18332" r="66570" b="144284"/>
          <a:stretch/>
        </p:blipFill>
        <p:spPr>
          <a:xfrm>
            <a:off x="3799080" y="1260000"/>
            <a:ext cx="4515840" cy="55789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1171EF9-0704-427A-9560-93E344424039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Bibliotecas úteis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412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Matemática: Numpy, Scipy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Interface gráfica (GUI): PyQt5, Tkinter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Análises em SIG: PyQGIS, OGR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Dados raster geográficos: GDAL, Fiona, Rasterio,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Dataframes (tabelas): Pandas, Geopandas, Polars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Gráficos científicos: Matplotlib, Plotly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Backend Web: FastAPI, Flask, Django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Backend com interface: Taipy, Streamlit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Aprendizado de máquina: Sklearn, Keras, Torch, Tensorflow, Jax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C245379-C1E3-4AB3-91E0-F2883E0559F7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Prática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586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Criar a pasta do projeto e acessar a pasta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mkdir projeto0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cd projecto0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Inicializar o ambiente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pixi init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Ativar o ambiente criado: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Instalando pacotes: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  <a:ea typeface="SimSun"/>
              </a:rPr>
              <a:t>pixi add planetary-computer pydantic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  <a:ea typeface="SimSun"/>
              </a:rPr>
              <a:t>No VSCodium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  <a:ea typeface="SimSun"/>
              </a:rPr>
              <a:t>Ctrl+Shift+P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  <a:ea typeface="SimSun"/>
              </a:rPr>
              <a:t>Select Python Interpreter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  <a:ea typeface="SimSun"/>
              </a:rPr>
              <a:t>Parar debugar: F5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2CC5B2C-92C8-4AC8-94FA-3D4D15E00702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Prática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586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Fluxograma no VSCodium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Debug no VSCodium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Inicializando ambiente: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conda create -n hello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Ativar o ambiente criado: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conda activate hello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Instalando pacotes: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  <a:ea typeface="SimSun"/>
              </a:rPr>
              <a:t>conda install scipy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  <a:ea typeface="SimSun"/>
              </a:rPr>
              <a:t>No VSCodium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  <a:ea typeface="SimSun"/>
              </a:rPr>
              <a:t>Ctrl+Shift+P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  <a:ea typeface="SimSun"/>
              </a:rPr>
              <a:t>Select Python Interpreter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  <a:ea typeface="SimSun"/>
              </a:rPr>
              <a:t>Parar debugar: F5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C69ADF9-3C13-4F4F-9631-4F0922FE0075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8480" cy="105264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Instalação PyQGIS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468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pip install pb_tool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Qt Designer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6304A0E-801F-485C-92B7-A5A7EDA64E09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5666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2015-04-30T10:55:49Z</dcterms:created>
  <dc:creator/>
  <dc:description/>
  <dc:language>pt-BR</dc:language>
  <cp:lastModifiedBy/>
  <dcterms:modified xsi:type="dcterms:W3CDTF">2026-01-26T12:21:43Z</dcterms:modified>
  <cp:revision>798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