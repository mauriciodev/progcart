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3AE2BF-A23C-4FD1-980C-133C614582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8DD2200-4F03-4A7C-8141-97AF55D666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>
          <a:xfrm>
            <a:off x="4169520" y="6492240"/>
            <a:ext cx="386388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>
          <a:xfrm>
            <a:off x="920916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A8E095-3468-4AD9-B01C-55393FCB55B1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>
          <a:xfrm>
            <a:off x="60948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1097280"/>
            <a:ext cx="12191760" cy="720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1400" bIns="-414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8" name=""/>
          <p:cNvSpPr/>
          <p:nvPr/>
        </p:nvSpPr>
        <p:spPr>
          <a:xfrm>
            <a:off x="0" y="1136880"/>
            <a:ext cx="12191760" cy="360"/>
          </a:xfrm>
          <a:prstGeom prst="line">
            <a:avLst/>
          </a:prstGeom>
          <a:ln w="7200">
            <a:solidFill>
              <a:srgbClr val="5c85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3600" rIns="93600" tIns="-48600" bIns="-48600" anchor="ctr" anchorCtr="1">
            <a:noAutofit/>
          </a:bodyPr>
          <a:p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12960" y="6120"/>
            <a:ext cx="673200" cy="10537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sp>
        <p:nvSpPr>
          <p:cNvPr id="10" name=""/>
          <p:cNvSpPr/>
          <p:nvPr/>
        </p:nvSpPr>
        <p:spPr>
          <a:xfrm>
            <a:off x="11247120" y="6480"/>
            <a:ext cx="949680" cy="105372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>
              <a:lnSpc>
                <a:spcPct val="100000"/>
              </a:lnSpc>
            </a:pPr>
            <a:endParaRPr b="0" lang="pt-BR" sz="2400" spc="-1" strike="noStrike">
              <a:solidFill>
                <a:srgbClr val="000000"/>
              </a:solidFill>
              <a:latin typeface="Times New Roman"/>
              <a:ea typeface="DejaVu Sans"/>
            </a:endParaRPr>
          </a:p>
        </p:txBody>
      </p:sp>
      <p:pic>
        <p:nvPicPr>
          <p:cNvPr id="11" name="" descr=""/>
          <p:cNvPicPr/>
          <p:nvPr/>
        </p:nvPicPr>
        <p:blipFill>
          <a:blip r:embed="rId2"/>
          <a:srcRect l="0" t="0" r="75485" b="0"/>
          <a:stretch/>
        </p:blipFill>
        <p:spPr>
          <a:xfrm>
            <a:off x="11592720" y="360000"/>
            <a:ext cx="466920" cy="53964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4"/>
          </p:nvPr>
        </p:nvSpPr>
        <p:spPr>
          <a:xfrm>
            <a:off x="4169520" y="6492240"/>
            <a:ext cx="386388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5"/>
          </p:nvPr>
        </p:nvSpPr>
        <p:spPr>
          <a:xfrm>
            <a:off x="920916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14E24FD-A5D3-486D-9AF1-78542F26353B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6"/>
          </p:nvPr>
        </p:nvSpPr>
        <p:spPr>
          <a:xfrm>
            <a:off x="609480" y="6492240"/>
            <a:ext cx="2840040" cy="22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www.ogc.org/standards/sfs/" TargetMode="External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docs.qgis.org/3.40/pt_BR/docs/training_manual/vector_analysis/basic_analysis.html" TargetMode="External"/><Relationship Id="rId2" Type="http://schemas.openxmlformats.org/officeDocument/2006/relationships/hyperlink" Target="https://docs.qgis.org/3.40/pt_BR/docs/training_manual/rasters/terrain_analysis.html" TargetMode="External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105920" y="2382480"/>
            <a:ext cx="10013760" cy="19299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pt-BR" sz="2800" spc="-1" strike="noStrike">
                <a:solidFill>
                  <a:srgbClr val="355e00"/>
                </a:solidFill>
                <a:latin typeface="Arial"/>
              </a:rPr>
              <a:t>Relacionamentos espaciais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983520" y="373320"/>
            <a:ext cx="10040400" cy="14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 marL="216000" indent="-216000" algn="ctr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355e00"/>
                </a:solidFill>
                <a:latin typeface="Arial"/>
              </a:rPr>
              <a:t>Programação aplicada à engenharia cartográfica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1170360" y="4855680"/>
            <a:ext cx="9999360" cy="178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Prof. Dr. Maurício Carvalho Mathias de Paulo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Prof. Me. Raphael Luiz França Greco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b="0" lang="pt-BR" sz="2000" spc="-1" strike="noStrike">
                <a:solidFill>
                  <a:srgbClr val="355e00"/>
                </a:solidFill>
                <a:latin typeface="Arial"/>
              </a:rPr>
              <a:t>Rio de Janeiro-RJ, 2025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49CB28-DF29-4BA2-BF32-91E314C12F8C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Objetivos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4025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Ilustrar operações de geoprocessamento em dados matriciais e vetoriais.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" descr=""/>
          <p:cNvPicPr/>
          <p:nvPr/>
        </p:nvPicPr>
        <p:blipFill>
          <a:blip r:embed="rId1"/>
          <a:srcRect l="0" t="0" r="0" b="13934"/>
          <a:stretch/>
        </p:blipFill>
        <p:spPr>
          <a:xfrm>
            <a:off x="4161600" y="2513160"/>
            <a:ext cx="3541320" cy="3666600"/>
          </a:xfrm>
          <a:prstGeom prst="rect">
            <a:avLst/>
          </a:prstGeom>
          <a:ln w="0">
            <a:noFill/>
          </a:ln>
        </p:spPr>
      </p:pic>
      <p:sp>
        <p:nvSpPr>
          <p:cNvPr id="25" name=""/>
          <p:cNvSpPr/>
          <p:nvPr/>
        </p:nvSpPr>
        <p:spPr>
          <a:xfrm>
            <a:off x="2041200" y="6168600"/>
            <a:ext cx="7955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Exemplo: Ferramentas de geoprocessamento no QGIS (processing toolbox).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B753E8-D2A9-47CF-8EDB-5C764D01662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Relações espaciais: Ponto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2181960" y="1197360"/>
            <a:ext cx="3385440" cy="2504520"/>
          </a:xfrm>
          <a:prstGeom prst="rect">
            <a:avLst/>
          </a:prstGeom>
          <a:ln w="0">
            <a:noFill/>
          </a:ln>
        </p:spPr>
      </p:pic>
      <p:pic>
        <p:nvPicPr>
          <p:cNvPr id="28" name="" descr=""/>
          <p:cNvPicPr/>
          <p:nvPr/>
        </p:nvPicPr>
        <p:blipFill>
          <a:blip r:embed="rId2"/>
          <a:stretch/>
        </p:blipFill>
        <p:spPr>
          <a:xfrm>
            <a:off x="6325200" y="1186560"/>
            <a:ext cx="3052080" cy="2489040"/>
          </a:xfrm>
          <a:prstGeom prst="rect">
            <a:avLst/>
          </a:prstGeom>
          <a:ln w="0">
            <a:noFill/>
          </a:ln>
        </p:spPr>
      </p:pic>
      <p:pic>
        <p:nvPicPr>
          <p:cNvPr id="29" name="" descr=""/>
          <p:cNvPicPr/>
          <p:nvPr/>
        </p:nvPicPr>
        <p:blipFill>
          <a:blip r:embed="rId3"/>
          <a:stretch/>
        </p:blipFill>
        <p:spPr>
          <a:xfrm>
            <a:off x="4127760" y="3861000"/>
            <a:ext cx="3583800" cy="2564640"/>
          </a:xfrm>
          <a:prstGeom prst="rect">
            <a:avLst/>
          </a:prstGeom>
          <a:ln w="0">
            <a:noFill/>
          </a:ln>
        </p:spPr>
      </p:pic>
      <p:sp>
        <p:nvSpPr>
          <p:cNvPr id="30" name=""/>
          <p:cNvSpPr/>
          <p:nvPr/>
        </p:nvSpPr>
        <p:spPr>
          <a:xfrm>
            <a:off x="1973160" y="6494760"/>
            <a:ext cx="96152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Fonte: ET-EDGV 3.0 https://inde.gov.br/pdf/ET-EDGV_versao_3.0_2018_05_20.pdf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9F3B6B-D008-4FB6-9F35-2ACF462B86C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Relações espaciais: Linhas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" descr=""/>
          <p:cNvPicPr/>
          <p:nvPr/>
        </p:nvPicPr>
        <p:blipFill>
          <a:blip r:embed="rId1"/>
          <a:stretch/>
        </p:blipFill>
        <p:spPr>
          <a:xfrm>
            <a:off x="258480" y="2219040"/>
            <a:ext cx="2160000" cy="1761480"/>
          </a:xfrm>
          <a:prstGeom prst="rect">
            <a:avLst/>
          </a:prstGeom>
          <a:ln w="0">
            <a:noFill/>
          </a:ln>
        </p:spPr>
      </p:pic>
      <p:sp>
        <p:nvSpPr>
          <p:cNvPr id="33" name=""/>
          <p:cNvSpPr/>
          <p:nvPr/>
        </p:nvSpPr>
        <p:spPr>
          <a:xfrm>
            <a:off x="1973160" y="6494760"/>
            <a:ext cx="96152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Fonte: ET-EDGV 3.0 https://inde.gov.br/pdf/ET-EDGV_versao_3.0_2018_05_20.pdf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2"/>
          <a:stretch/>
        </p:blipFill>
        <p:spPr>
          <a:xfrm>
            <a:off x="7021080" y="1428120"/>
            <a:ext cx="5099040" cy="3277440"/>
          </a:xfrm>
          <a:prstGeom prst="rect">
            <a:avLst/>
          </a:prstGeom>
          <a:ln w="0"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/>
        </p:blipFill>
        <p:spPr>
          <a:xfrm>
            <a:off x="2444040" y="1485000"/>
            <a:ext cx="4359240" cy="314964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C08BC1D-4BBF-4EA5-9B88-ADE229231A60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Relações espaciais: Polígonos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1973160" y="6494760"/>
            <a:ext cx="96152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Fonte: ET-EDGV 3.0 https://inde.gov.br/pdf/ET-EDGV_versao_3.0_2018_05_20.pdf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149400" y="3639600"/>
            <a:ext cx="2968560" cy="1908000"/>
          </a:xfrm>
          <a:prstGeom prst="rect">
            <a:avLst/>
          </a:prstGeom>
          <a:ln w="0">
            <a:noFill/>
          </a:ln>
        </p:spPr>
      </p:pic>
      <p:pic>
        <p:nvPicPr>
          <p:cNvPr id="39" name="" descr=""/>
          <p:cNvPicPr/>
          <p:nvPr/>
        </p:nvPicPr>
        <p:blipFill>
          <a:blip r:embed="rId2"/>
          <a:stretch/>
        </p:blipFill>
        <p:spPr>
          <a:xfrm>
            <a:off x="3497760" y="1897920"/>
            <a:ext cx="8482680" cy="2921040"/>
          </a:xfrm>
          <a:prstGeom prst="rect">
            <a:avLst/>
          </a:prstGeom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3"/>
          <a:stretch/>
        </p:blipFill>
        <p:spPr>
          <a:xfrm>
            <a:off x="113400" y="1389240"/>
            <a:ext cx="2993400" cy="21420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4DDF837-5929-4458-AE4B-D50F738DDBCE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spcAft>
                <a:spcPts val="1026"/>
              </a:spcAft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Simple feature access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O padrão determina os tipos de geometrias e as operações entre elas.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As operações são definidas principalmente para SQL (bancos relacionais).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Acessem em 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https://www.ogc.org/standards/sfs/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1026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200" spc="-1" strike="noStrike">
                <a:solidFill>
                  <a:srgbClr val="000000"/>
                </a:solidFill>
                <a:latin typeface="Arial"/>
              </a:rPr>
              <a:t>OpenGIS Implementation Specification for Geographic information – Simple feature access – Part 2: SQL option 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FE01550-0668-4961-8A5D-D85EA4B04FD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Operações entre dados matriciais e vetoriais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Existem várias operações entre dados matriciais e vetoriais.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4078080" y="2415240"/>
            <a:ext cx="3904200" cy="42332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72A8835-5B20-4597-B247-5ED324536304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40080" y="5760"/>
            <a:ext cx="10699200" cy="1053360"/>
          </a:xfrm>
          <a:prstGeom prst="rect">
            <a:avLst/>
          </a:prstGeom>
          <a:solidFill>
            <a:srgbClr val="99cc99"/>
          </a:solidFill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3630" spc="-1" strike="noStrike">
                <a:solidFill>
                  <a:srgbClr val="355e00"/>
                </a:solidFill>
                <a:latin typeface="Arial"/>
              </a:rPr>
              <a:t>Exercícios</a:t>
            </a:r>
            <a:endParaRPr b="0" lang="pt-BR" sz="36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182880" y="1188720"/>
            <a:ext cx="11795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Processamento de dados vetoriais: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1"/>
              </a:rPr>
              <a:t>https://docs.qgis.org/3.40/pt_BR/docs/training_manual/vector_analysis/basic_analysis.html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4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Processamento de dados matriciais:</a:t>
            </a:r>
            <a:r>
              <a:rPr b="0" lang="pt-BR" sz="2400" spc="-1" strike="noStrike" u="sng">
                <a:solidFill>
                  <a:srgbClr val="0000ee"/>
                </a:solidFill>
                <a:uFillTx/>
                <a:latin typeface="Arial"/>
                <a:hlinkClick r:id="rId2"/>
              </a:rPr>
              <a:t>https://docs.qgis.org/3.40/pt_BR/docs/training_manual/rasters/terrain_analysis.html</a:t>
            </a: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Aft>
                <a:spcPts val="1049"/>
              </a:spcAft>
              <a:buNone/>
              <a:tabLst>
                <a:tab algn="l" pos="0"/>
              </a:tabLst>
            </a:pP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068C217-F758-4BC5-9610-B27695F0DC01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2015-04-30T10:55:49Z</dcterms:created>
  <dc:creator/>
  <dc:description/>
  <dc:language>pt-BR</dc:language>
  <cp:lastModifiedBy/>
  <dcterms:modified xsi:type="dcterms:W3CDTF">2025-12-22T09:41:20Z</dcterms:modified>
  <cp:revision>784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